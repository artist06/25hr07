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Telegraf Bold" charset="1" panose="00000800000000000000"/>
      <p:regular r:id="rId20"/>
    </p:embeddedFont>
    <p:embeddedFont>
      <p:font typeface="Canva Sans Bold" charset="1" panose="020B0803030501040103"/>
      <p:regular r:id="rId21"/>
    </p:embeddedFont>
    <p:embeddedFont>
      <p:font typeface="Arial MT Pro" charset="1" panose="020B0502020202020204"/>
      <p:regular r:id="rId22"/>
    </p:embeddedFont>
    <p:embeddedFont>
      <p:font typeface="Arial MT Pro Bold" charset="1" panose="020B0802020202020204"/>
      <p:regular r:id="rId23"/>
    </p:embeddedFont>
    <p:embeddedFont>
      <p:font typeface="Arial MT Pro Bold Italics" charset="1" panose="020B080202020209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http://dx.doi.org/10.32604/jai.2023.043366" TargetMode="External" Type="http://schemas.openxmlformats.org/officeDocument/2006/relationships/hyperlink"/><Relationship Id="rId3" Target="http://dx.doi.org/10.1007/s11235-021-00850-6" TargetMode="External" Type="http://schemas.openxmlformats.org/officeDocument/2006/relationships/hyperlink"/><Relationship Id="rId4" Target="http://dx.doi.org/10.1038/s41598-022-10841-5" TargetMode="External" Type="http://schemas.openxmlformats.org/officeDocument/2006/relationships/hyperlink"/><Relationship Id="rId5" Target="https://doi.org/10.1007/s12652-018-0798-z"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https://data.mendeley.com/datasets/n96ncsr5g4/1"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1028700" y="361950"/>
            <a:ext cx="13839810" cy="4781550"/>
            <a:chOff x="0" y="0"/>
            <a:chExt cx="18453079" cy="6375400"/>
          </a:xfrm>
        </p:grpSpPr>
        <p:sp>
          <p:nvSpPr>
            <p:cNvPr name="TextBox 3" id="3"/>
            <p:cNvSpPr txBox="true"/>
            <p:nvPr/>
          </p:nvSpPr>
          <p:spPr>
            <a:xfrm rot="0">
              <a:off x="0" y="1174750"/>
              <a:ext cx="18453079" cy="5200650"/>
            </a:xfrm>
            <a:prstGeom prst="rect">
              <a:avLst/>
            </a:prstGeom>
          </p:spPr>
          <p:txBody>
            <a:bodyPr anchor="t" rtlCol="false" tIns="0" lIns="0" bIns="0" rIns="0">
              <a:spAutoFit/>
            </a:bodyPr>
            <a:lstStyle/>
            <a:p>
              <a:pPr algn="l" marL="0" indent="0" lvl="0">
                <a:lnSpc>
                  <a:spcPts val="9900"/>
                </a:lnSpc>
              </a:pPr>
              <a:r>
                <a:rPr lang="en-US" b="true" sz="9000" spc="-89">
                  <a:solidFill>
                    <a:srgbClr val="2C3E50"/>
                  </a:solidFill>
                  <a:latin typeface="Telegraf Bold"/>
                  <a:ea typeface="Telegraf Bold"/>
                  <a:cs typeface="Telegraf Bold"/>
                  <a:sym typeface="Telegraf Bold"/>
                </a:rPr>
                <a:t>Phishing Website Detection Using NLP Techniques</a:t>
              </a:r>
            </a:p>
          </p:txBody>
        </p:sp>
        <p:sp>
          <p:nvSpPr>
            <p:cNvPr name="TextBox 4" id="4"/>
            <p:cNvSpPr txBox="true"/>
            <p:nvPr/>
          </p:nvSpPr>
          <p:spPr>
            <a:xfrm rot="0">
              <a:off x="0" y="-9525"/>
              <a:ext cx="18453079" cy="606425"/>
            </a:xfrm>
            <a:prstGeom prst="rect">
              <a:avLst/>
            </a:prstGeom>
          </p:spPr>
          <p:txBody>
            <a:bodyPr anchor="t" rtlCol="false" tIns="0" lIns="0" bIns="0" rIns="0">
              <a:spAutoFit/>
            </a:bodyPr>
            <a:lstStyle/>
            <a:p>
              <a:pPr algn="l" marL="0" indent="0" lvl="0">
                <a:lnSpc>
                  <a:spcPts val="3299"/>
                </a:lnSpc>
              </a:pPr>
            </a:p>
          </p:txBody>
        </p:sp>
      </p:grpSp>
      <p:sp>
        <p:nvSpPr>
          <p:cNvPr name="TextBox 5" id="5"/>
          <p:cNvSpPr txBox="true"/>
          <p:nvPr/>
        </p:nvSpPr>
        <p:spPr>
          <a:xfrm rot="0">
            <a:off x="1028700" y="5228330"/>
            <a:ext cx="6686032" cy="887095"/>
          </a:xfrm>
          <a:prstGeom prst="rect">
            <a:avLst/>
          </a:prstGeom>
        </p:spPr>
        <p:txBody>
          <a:bodyPr anchor="t" rtlCol="false" tIns="0" lIns="0" bIns="0" rIns="0">
            <a:spAutoFit/>
          </a:bodyPr>
          <a:lstStyle/>
          <a:p>
            <a:pPr algn="l">
              <a:lnSpc>
                <a:spcPts val="7279"/>
              </a:lnSpc>
            </a:pPr>
            <a:r>
              <a:rPr lang="en-US" sz="5199" b="true">
                <a:solidFill>
                  <a:srgbClr val="2C3E50"/>
                </a:solidFill>
                <a:latin typeface="Canva Sans Bold"/>
                <a:ea typeface="Canva Sans Bold"/>
                <a:cs typeface="Canva Sans Bold"/>
                <a:sym typeface="Canva Sans Bold"/>
              </a:rPr>
              <a:t>Group ID : 25HR07</a:t>
            </a:r>
          </a:p>
        </p:txBody>
      </p:sp>
      <p:grpSp>
        <p:nvGrpSpPr>
          <p:cNvPr name="Group 6" id="6"/>
          <p:cNvGrpSpPr/>
          <p:nvPr/>
        </p:nvGrpSpPr>
        <p:grpSpPr>
          <a:xfrm rot="0">
            <a:off x="15049500" y="0"/>
            <a:ext cx="3238500" cy="10287000"/>
            <a:chOff x="0" y="0"/>
            <a:chExt cx="852938" cy="2709333"/>
          </a:xfrm>
        </p:grpSpPr>
        <p:sp>
          <p:nvSpPr>
            <p:cNvPr name="Freeform 7" id="7"/>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18BC9C"/>
            </a:solidFill>
          </p:spPr>
        </p:sp>
        <p:sp>
          <p:nvSpPr>
            <p:cNvPr name="TextBox 8" id="8"/>
            <p:cNvSpPr txBox="true"/>
            <p:nvPr/>
          </p:nvSpPr>
          <p:spPr>
            <a:xfrm>
              <a:off x="0" y="-76200"/>
              <a:ext cx="852938" cy="2785533"/>
            </a:xfrm>
            <a:prstGeom prst="rect">
              <a:avLst/>
            </a:prstGeom>
          </p:spPr>
          <p:txBody>
            <a:bodyPr anchor="ctr" rtlCol="false" tIns="50800" lIns="50800" bIns="50800" rIns="50800"/>
            <a:lstStyle/>
            <a:p>
              <a:pPr algn="ctr" marL="0" indent="0" lvl="0">
                <a:lnSpc>
                  <a:spcPts val="2800"/>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15049500" y="0"/>
            <a:ext cx="3238500" cy="10287000"/>
            <a:chOff x="0" y="0"/>
            <a:chExt cx="852938" cy="2709333"/>
          </a:xfrm>
        </p:grpSpPr>
        <p:sp>
          <p:nvSpPr>
            <p:cNvPr name="Freeform 3" id="3"/>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18BC9C"/>
            </a:solidFill>
          </p:spPr>
        </p:sp>
        <p:sp>
          <p:nvSpPr>
            <p:cNvPr name="TextBox 4" id="4"/>
            <p:cNvSpPr txBox="true"/>
            <p:nvPr/>
          </p:nvSpPr>
          <p:spPr>
            <a:xfrm>
              <a:off x="0" y="-76200"/>
              <a:ext cx="852938" cy="2785533"/>
            </a:xfrm>
            <a:prstGeom prst="rect">
              <a:avLst/>
            </a:prstGeom>
          </p:spPr>
          <p:txBody>
            <a:bodyPr anchor="ctr" rtlCol="false" tIns="50800" lIns="50800" bIns="50800" rIns="50800"/>
            <a:lstStyle/>
            <a:p>
              <a:pPr algn="ctr" marL="0" indent="0" lvl="0">
                <a:lnSpc>
                  <a:spcPts val="2800"/>
                </a:lnSpc>
              </a:pPr>
            </a:p>
          </p:txBody>
        </p:sp>
      </p:grpSp>
      <p:sp>
        <p:nvSpPr>
          <p:cNvPr name="AutoShape 5" id="5"/>
          <p:cNvSpPr/>
          <p:nvPr/>
        </p:nvSpPr>
        <p:spPr>
          <a:xfrm>
            <a:off x="666750" y="9777820"/>
            <a:ext cx="16954500" cy="0"/>
          </a:xfrm>
          <a:prstGeom prst="line">
            <a:avLst/>
          </a:prstGeom>
          <a:ln cap="flat" w="9525">
            <a:solidFill>
              <a:srgbClr val="2C3E50"/>
            </a:solidFill>
            <a:prstDash val="solid"/>
            <a:headEnd type="none" len="sm" w="sm"/>
            <a:tailEnd type="none" len="sm" w="sm"/>
          </a:ln>
        </p:spPr>
      </p:sp>
      <p:sp>
        <p:nvSpPr>
          <p:cNvPr name="Freeform 6" id="6"/>
          <p:cNvSpPr/>
          <p:nvPr/>
        </p:nvSpPr>
        <p:spPr>
          <a:xfrm flipH="false" flipV="false" rot="0">
            <a:off x="666750" y="4080637"/>
            <a:ext cx="14382750" cy="3775472"/>
          </a:xfrm>
          <a:custGeom>
            <a:avLst/>
            <a:gdLst/>
            <a:ahLst/>
            <a:cxnLst/>
            <a:rect r="r" b="b" t="t" l="l"/>
            <a:pathLst>
              <a:path h="3775472" w="14382750">
                <a:moveTo>
                  <a:pt x="0" y="0"/>
                </a:moveTo>
                <a:lnTo>
                  <a:pt x="14382750" y="0"/>
                </a:lnTo>
                <a:lnTo>
                  <a:pt x="14382750" y="3775472"/>
                </a:lnTo>
                <a:lnTo>
                  <a:pt x="0" y="3775472"/>
                </a:lnTo>
                <a:lnTo>
                  <a:pt x="0" y="0"/>
                </a:lnTo>
                <a:close/>
              </a:path>
            </a:pathLst>
          </a:custGeom>
          <a:blipFill>
            <a:blip r:embed="rId2"/>
            <a:stretch>
              <a:fillRect l="0" t="0" r="0" b="0"/>
            </a:stretch>
          </a:blipFill>
        </p:spPr>
      </p:sp>
      <p:grpSp>
        <p:nvGrpSpPr>
          <p:cNvPr name="Group 7" id="7"/>
          <p:cNvGrpSpPr/>
          <p:nvPr/>
        </p:nvGrpSpPr>
        <p:grpSpPr>
          <a:xfrm rot="0">
            <a:off x="666750" y="683081"/>
            <a:ext cx="12639675" cy="1774349"/>
            <a:chOff x="0" y="0"/>
            <a:chExt cx="16852900" cy="2365799"/>
          </a:xfrm>
        </p:grpSpPr>
        <p:sp>
          <p:nvSpPr>
            <p:cNvPr name="TextBox 8" id="8"/>
            <p:cNvSpPr txBox="true"/>
            <p:nvPr/>
          </p:nvSpPr>
          <p:spPr>
            <a:xfrm rot="0">
              <a:off x="0" y="-19050"/>
              <a:ext cx="16852900" cy="1432984"/>
            </a:xfrm>
            <a:prstGeom prst="rect">
              <a:avLst/>
            </a:prstGeom>
          </p:spPr>
          <p:txBody>
            <a:bodyPr anchor="t" rtlCol="false" tIns="0" lIns="0" bIns="0" rIns="0">
              <a:spAutoFit/>
            </a:bodyPr>
            <a:lstStyle/>
            <a:p>
              <a:pPr algn="l" marL="0" indent="0" lvl="0">
                <a:lnSpc>
                  <a:spcPts val="7700"/>
                </a:lnSpc>
              </a:pPr>
              <a:r>
                <a:rPr lang="en-US" b="true" sz="7000" spc="-70">
                  <a:solidFill>
                    <a:srgbClr val="2C3E50"/>
                  </a:solidFill>
                  <a:latin typeface="Telegraf Bold"/>
                  <a:ea typeface="Telegraf Bold"/>
                  <a:cs typeface="Telegraf Bold"/>
                  <a:sym typeface="Telegraf Bold"/>
                </a:rPr>
                <a:t>Roles and Responsibilities</a:t>
              </a:r>
            </a:p>
          </p:txBody>
        </p:sp>
        <p:sp>
          <p:nvSpPr>
            <p:cNvPr name="TextBox 9" id="9"/>
            <p:cNvSpPr txBox="true"/>
            <p:nvPr/>
          </p:nvSpPr>
          <p:spPr>
            <a:xfrm rot="0">
              <a:off x="0" y="1760009"/>
              <a:ext cx="16852900" cy="605790"/>
            </a:xfrm>
            <a:prstGeom prst="rect">
              <a:avLst/>
            </a:prstGeom>
          </p:spPr>
          <p:txBody>
            <a:bodyPr anchor="t" rtlCol="false" tIns="0" lIns="0" bIns="0" rIns="0">
              <a:spAutoFit/>
            </a:bodyPr>
            <a:lstStyle/>
            <a:p>
              <a:pPr algn="l" marL="0" indent="0" lvl="0">
                <a:lnSpc>
                  <a:spcPts val="3258"/>
                </a:lnSpc>
              </a:pPr>
              <a:r>
                <a:rPr lang="en-US" b="true" sz="2962" spc="-29">
                  <a:solidFill>
                    <a:srgbClr val="2C3E50"/>
                  </a:solidFill>
                  <a:latin typeface="Telegraf Bold"/>
                  <a:ea typeface="Telegraf Bold"/>
                  <a:cs typeface="Telegraf Bold"/>
                  <a:sym typeface="Telegraf Bold"/>
                </a:rPr>
                <a:t>Team Members and Their Tasks</a:t>
              </a:r>
            </a:p>
          </p:txBody>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666750" y="693399"/>
            <a:ext cx="12639675" cy="1764030"/>
            <a:chOff x="0" y="0"/>
            <a:chExt cx="16852900" cy="2352040"/>
          </a:xfrm>
        </p:grpSpPr>
        <p:sp>
          <p:nvSpPr>
            <p:cNvPr name="TextBox 3" id="3"/>
            <p:cNvSpPr txBox="true"/>
            <p:nvPr/>
          </p:nvSpPr>
          <p:spPr>
            <a:xfrm rot="0">
              <a:off x="0" y="-19050"/>
              <a:ext cx="16852900" cy="1432984"/>
            </a:xfrm>
            <a:prstGeom prst="rect">
              <a:avLst/>
            </a:prstGeom>
          </p:spPr>
          <p:txBody>
            <a:bodyPr anchor="t" rtlCol="false" tIns="0" lIns="0" bIns="0" rIns="0">
              <a:spAutoFit/>
            </a:bodyPr>
            <a:lstStyle/>
            <a:p>
              <a:pPr algn="l" marL="0" indent="0" lvl="0">
                <a:lnSpc>
                  <a:spcPts val="7700"/>
                </a:lnSpc>
              </a:pPr>
              <a:r>
                <a:rPr lang="en-US" b="true" sz="7000" spc="-70">
                  <a:solidFill>
                    <a:srgbClr val="2C3E50"/>
                  </a:solidFill>
                  <a:latin typeface="Telegraf Bold"/>
                  <a:ea typeface="Telegraf Bold"/>
                  <a:cs typeface="Telegraf Bold"/>
                  <a:sym typeface="Telegraf Bold"/>
                </a:rPr>
                <a:t>Abstract</a:t>
              </a:r>
            </a:p>
          </p:txBody>
        </p:sp>
        <p:sp>
          <p:nvSpPr>
            <p:cNvPr name="TextBox 4" id="4"/>
            <p:cNvSpPr txBox="true"/>
            <p:nvPr/>
          </p:nvSpPr>
          <p:spPr>
            <a:xfrm rot="0">
              <a:off x="0" y="1769534"/>
              <a:ext cx="16852900" cy="582507"/>
            </a:xfrm>
            <a:prstGeom prst="rect">
              <a:avLst/>
            </a:prstGeom>
          </p:spPr>
          <p:txBody>
            <a:bodyPr anchor="t" rtlCol="false" tIns="0" lIns="0" bIns="0" rIns="0">
              <a:spAutoFit/>
            </a:bodyPr>
            <a:lstStyle/>
            <a:p>
              <a:pPr algn="l" marL="0" indent="0" lvl="0">
                <a:lnSpc>
                  <a:spcPts val="3190"/>
                </a:lnSpc>
              </a:pPr>
              <a:r>
                <a:rPr lang="en-US" b="true" sz="2900" spc="-29">
                  <a:solidFill>
                    <a:srgbClr val="2C3E50"/>
                  </a:solidFill>
                  <a:latin typeface="Telegraf Bold"/>
                  <a:ea typeface="Telegraf Bold"/>
                  <a:cs typeface="Telegraf Bold"/>
                  <a:sym typeface="Telegraf Bold"/>
                </a:rPr>
                <a:t>Overview of our project findings</a:t>
              </a:r>
            </a:p>
          </p:txBody>
        </p:sp>
      </p:grpSp>
      <p:grpSp>
        <p:nvGrpSpPr>
          <p:cNvPr name="Group 5" id="5"/>
          <p:cNvGrpSpPr/>
          <p:nvPr/>
        </p:nvGrpSpPr>
        <p:grpSpPr>
          <a:xfrm rot="0">
            <a:off x="15049500" y="0"/>
            <a:ext cx="3238500" cy="10287000"/>
            <a:chOff x="0" y="0"/>
            <a:chExt cx="852938" cy="2709333"/>
          </a:xfrm>
        </p:grpSpPr>
        <p:sp>
          <p:nvSpPr>
            <p:cNvPr name="Freeform 6" id="6"/>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18BC9C"/>
            </a:solidFill>
          </p:spPr>
        </p:sp>
        <p:sp>
          <p:nvSpPr>
            <p:cNvPr name="TextBox 7" id="7"/>
            <p:cNvSpPr txBox="true"/>
            <p:nvPr/>
          </p:nvSpPr>
          <p:spPr>
            <a:xfrm>
              <a:off x="0" y="-76200"/>
              <a:ext cx="852938" cy="2785533"/>
            </a:xfrm>
            <a:prstGeom prst="rect">
              <a:avLst/>
            </a:prstGeom>
          </p:spPr>
          <p:txBody>
            <a:bodyPr anchor="ctr" rtlCol="false" tIns="50800" lIns="50800" bIns="50800" rIns="50800"/>
            <a:lstStyle/>
            <a:p>
              <a:pPr algn="ctr" marL="0" indent="0" lvl="0">
                <a:lnSpc>
                  <a:spcPts val="2800"/>
                </a:lnSpc>
              </a:pPr>
            </a:p>
          </p:txBody>
        </p:sp>
      </p:grpSp>
      <p:sp>
        <p:nvSpPr>
          <p:cNvPr name="AutoShape 8" id="8"/>
          <p:cNvSpPr/>
          <p:nvPr/>
        </p:nvSpPr>
        <p:spPr>
          <a:xfrm>
            <a:off x="666750" y="9620250"/>
            <a:ext cx="13650138" cy="0"/>
          </a:xfrm>
          <a:prstGeom prst="line">
            <a:avLst/>
          </a:prstGeom>
          <a:ln cap="flat" w="9525">
            <a:solidFill>
              <a:srgbClr val="2C3E50"/>
            </a:solidFill>
            <a:prstDash val="solid"/>
            <a:headEnd type="none" len="sm" w="sm"/>
            <a:tailEnd type="none" len="sm" w="sm"/>
          </a:ln>
        </p:spPr>
      </p:sp>
      <p:sp>
        <p:nvSpPr>
          <p:cNvPr name="TextBox 9" id="9"/>
          <p:cNvSpPr txBox="true"/>
          <p:nvPr/>
        </p:nvSpPr>
        <p:spPr>
          <a:xfrm rot="0">
            <a:off x="486670" y="2677921"/>
            <a:ext cx="13830218" cy="6727191"/>
          </a:xfrm>
          <a:prstGeom prst="rect">
            <a:avLst/>
          </a:prstGeom>
        </p:spPr>
        <p:txBody>
          <a:bodyPr anchor="t" rtlCol="false" tIns="0" lIns="0" bIns="0" rIns="0">
            <a:spAutoFit/>
          </a:bodyPr>
          <a:lstStyle/>
          <a:p>
            <a:pPr algn="just">
              <a:lnSpc>
                <a:spcPts val="4059"/>
              </a:lnSpc>
              <a:spcBef>
                <a:spcPct val="0"/>
              </a:spcBef>
            </a:pPr>
            <a:r>
              <a:rPr lang="en-US" sz="2899" spc="-28">
                <a:solidFill>
                  <a:srgbClr val="2C3E50"/>
                </a:solidFill>
                <a:latin typeface="Arial MT Pro"/>
                <a:ea typeface="Arial MT Pro"/>
                <a:cs typeface="Arial MT Pro"/>
                <a:sym typeface="Arial MT Pro"/>
              </a:rPr>
              <a:t>Phishing websites </a:t>
            </a:r>
            <a:r>
              <a:rPr lang="en-US" sz="2899" spc="-28">
                <a:solidFill>
                  <a:srgbClr val="2C3E50"/>
                </a:solidFill>
                <a:latin typeface="Arial MT Pro"/>
                <a:ea typeface="Arial MT Pro"/>
                <a:cs typeface="Arial MT Pro"/>
                <a:sym typeface="Arial MT Pro"/>
              </a:rPr>
              <a:t>remain a major security risk, requiring accurate automated detection. We explore multi-level webpage features to improve classification: (1) </a:t>
            </a:r>
            <a:r>
              <a:rPr lang="en-US" b="true" sz="2899" spc="-28">
                <a:solidFill>
                  <a:srgbClr val="2C3E50"/>
                </a:solidFill>
                <a:latin typeface="Arial MT Pro Bold"/>
                <a:ea typeface="Arial MT Pro Bold"/>
                <a:cs typeface="Arial MT Pro Bold"/>
                <a:sym typeface="Arial MT Pro Bold"/>
              </a:rPr>
              <a:t>URL-level features</a:t>
            </a:r>
            <a:r>
              <a:rPr lang="en-US" sz="2899" spc="-28">
                <a:solidFill>
                  <a:srgbClr val="2C3E50"/>
                </a:solidFill>
                <a:latin typeface="Arial MT Pro"/>
                <a:ea typeface="Arial MT Pro"/>
                <a:cs typeface="Arial MT Pro"/>
                <a:sym typeface="Arial MT Pro"/>
              </a:rPr>
              <a:t>, where we use </a:t>
            </a:r>
            <a:r>
              <a:rPr lang="en-US" b="true" sz="2899" spc="-28">
                <a:solidFill>
                  <a:srgbClr val="2C3E50"/>
                </a:solidFill>
                <a:latin typeface="Arial MT Pro Bold"/>
                <a:ea typeface="Arial MT Pro Bold"/>
                <a:cs typeface="Arial MT Pro Bold"/>
                <a:sym typeface="Arial MT Pro Bold"/>
              </a:rPr>
              <a:t>200-character embedded URL sequences</a:t>
            </a:r>
            <a:r>
              <a:rPr lang="en-US" sz="2899" spc="-28">
                <a:solidFill>
                  <a:srgbClr val="2C3E50"/>
                </a:solidFill>
                <a:latin typeface="Arial MT Pro"/>
                <a:ea typeface="Arial MT Pro"/>
                <a:cs typeface="Arial MT Pro"/>
                <a:sym typeface="Arial MT Pro"/>
              </a:rPr>
              <a:t> along with </a:t>
            </a:r>
            <a:r>
              <a:rPr lang="en-US" b="true" sz="2899" spc="-28">
                <a:solidFill>
                  <a:srgbClr val="2C3E50"/>
                </a:solidFill>
                <a:latin typeface="Arial MT Pro Bold"/>
                <a:ea typeface="Arial MT Pro Bold"/>
                <a:cs typeface="Arial MT Pro Bold"/>
                <a:sym typeface="Arial MT Pro Bold"/>
              </a:rPr>
              <a:t>21 heuristic phishing indicators</a:t>
            </a:r>
            <a:r>
              <a:rPr lang="en-US" sz="2899" spc="-28">
                <a:solidFill>
                  <a:srgbClr val="2C3E50"/>
                </a:solidFill>
                <a:latin typeface="Arial MT Pro"/>
                <a:ea typeface="Arial MT Pro"/>
                <a:cs typeface="Arial MT Pro"/>
                <a:sym typeface="Arial MT Pro"/>
              </a:rPr>
              <a:t>, achieving </a:t>
            </a:r>
            <a:r>
              <a:rPr lang="en-US" b="true" sz="2899" spc="-28">
                <a:solidFill>
                  <a:srgbClr val="2C3E50"/>
                </a:solidFill>
                <a:latin typeface="Arial MT Pro Bold"/>
                <a:ea typeface="Arial MT Pro Bold"/>
                <a:cs typeface="Arial MT Pro Bold"/>
                <a:sym typeface="Arial MT Pro Bold"/>
              </a:rPr>
              <a:t>95</a:t>
            </a:r>
            <a:r>
              <a:rPr lang="en-US" b="true" sz="2899" spc="-28">
                <a:solidFill>
                  <a:srgbClr val="2C3E50"/>
                </a:solidFill>
                <a:latin typeface="Arial MT Pro Bold"/>
                <a:ea typeface="Arial MT Pro Bold"/>
                <a:cs typeface="Arial MT Pro Bold"/>
                <a:sym typeface="Arial MT Pro Bold"/>
              </a:rPr>
              <a:t> </a:t>
            </a:r>
            <a:r>
              <a:rPr lang="en-US" b="true" sz="2899" spc="-28">
                <a:solidFill>
                  <a:srgbClr val="2C3E50"/>
                </a:solidFill>
                <a:latin typeface="Arial MT Pro Bold"/>
                <a:ea typeface="Arial MT Pro Bold"/>
                <a:cs typeface="Arial MT Pro Bold"/>
                <a:sym typeface="Arial MT Pro Bold"/>
              </a:rPr>
              <a:t>perce</a:t>
            </a:r>
            <a:r>
              <a:rPr lang="en-US" b="true" sz="2899" spc="-28">
                <a:solidFill>
                  <a:srgbClr val="2C3E50"/>
                </a:solidFill>
                <a:latin typeface="Arial MT Pro Bold"/>
                <a:ea typeface="Arial MT Pro Bold"/>
                <a:cs typeface="Arial MT Pro Bold"/>
                <a:sym typeface="Arial MT Pro Bold"/>
              </a:rPr>
              <a:t>nt</a:t>
            </a:r>
            <a:r>
              <a:rPr lang="en-US" b="true" sz="2899" spc="-28">
                <a:solidFill>
                  <a:srgbClr val="2C3E50"/>
                </a:solidFill>
                <a:latin typeface="Arial MT Pro Bold"/>
                <a:ea typeface="Arial MT Pro Bold"/>
                <a:cs typeface="Arial MT Pro Bold"/>
                <a:sym typeface="Arial MT Pro Bold"/>
              </a:rPr>
              <a:t> accuracy</a:t>
            </a:r>
            <a:r>
              <a:rPr lang="en-US" sz="2899" spc="-28">
                <a:solidFill>
                  <a:srgbClr val="2C3E50"/>
                </a:solidFill>
                <a:latin typeface="Arial MT Pro"/>
                <a:ea typeface="Arial MT Pro"/>
                <a:cs typeface="Arial MT Pro"/>
                <a:sym typeface="Arial MT Pro"/>
              </a:rPr>
              <a:t> us</a:t>
            </a:r>
            <a:r>
              <a:rPr lang="en-US" sz="2899" spc="-28">
                <a:solidFill>
                  <a:srgbClr val="2C3E50"/>
                </a:solidFill>
                <a:latin typeface="Arial MT Pro"/>
                <a:ea typeface="Arial MT Pro"/>
                <a:cs typeface="Arial MT Pro"/>
                <a:sym typeface="Arial MT Pro"/>
              </a:rPr>
              <a:t>in</a:t>
            </a:r>
            <a:r>
              <a:rPr lang="en-US" sz="2899" spc="-28">
                <a:solidFill>
                  <a:srgbClr val="2C3E50"/>
                </a:solidFill>
                <a:latin typeface="Arial MT Pro"/>
                <a:ea typeface="Arial MT Pro"/>
                <a:cs typeface="Arial MT Pro"/>
                <a:sym typeface="Arial MT Pro"/>
              </a:rPr>
              <a:t>g</a:t>
            </a:r>
            <a:r>
              <a:rPr lang="en-US" sz="2899" spc="-28">
                <a:solidFill>
                  <a:srgbClr val="2C3E50"/>
                </a:solidFill>
                <a:latin typeface="Arial MT Pro"/>
                <a:ea typeface="Arial MT Pro"/>
                <a:cs typeface="Arial MT Pro"/>
                <a:sym typeface="Arial MT Pro"/>
              </a:rPr>
              <a:t> a </a:t>
            </a:r>
            <a:r>
              <a:rPr lang="en-US" b="true" sz="2899" spc="-28">
                <a:solidFill>
                  <a:srgbClr val="2C3E50"/>
                </a:solidFill>
                <a:latin typeface="Arial MT Pro Bold"/>
                <a:ea typeface="Arial MT Pro Bold"/>
                <a:cs typeface="Arial MT Pro Bold"/>
                <a:sym typeface="Arial MT Pro Bold"/>
              </a:rPr>
              <a:t>two</a:t>
            </a:r>
            <a:r>
              <a:rPr lang="en-US" b="true" sz="2899" spc="-28">
                <a:solidFill>
                  <a:srgbClr val="2C3E50"/>
                </a:solidFill>
                <a:latin typeface="Arial MT Pro Bold"/>
                <a:ea typeface="Arial MT Pro Bold"/>
                <a:cs typeface="Arial MT Pro Bold"/>
                <a:sym typeface="Arial MT Pro Bold"/>
              </a:rPr>
              <a:t>-head</a:t>
            </a:r>
            <a:r>
              <a:rPr lang="en-US" b="true" sz="2899" spc="-28">
                <a:solidFill>
                  <a:srgbClr val="2C3E50"/>
                </a:solidFill>
                <a:latin typeface="Arial MT Pro Bold"/>
                <a:ea typeface="Arial MT Pro Bold"/>
                <a:cs typeface="Arial MT Pro Bold"/>
                <a:sym typeface="Arial MT Pro Bold"/>
              </a:rPr>
              <a:t> CNN</a:t>
            </a:r>
            <a:r>
              <a:rPr lang="en-US" b="true" sz="2899" spc="-28">
                <a:solidFill>
                  <a:srgbClr val="2C3E50"/>
                </a:solidFill>
                <a:latin typeface="Arial MT Pro Bold"/>
                <a:ea typeface="Arial MT Pro Bold"/>
                <a:cs typeface="Arial MT Pro Bold"/>
                <a:sym typeface="Arial MT Pro Bold"/>
              </a:rPr>
              <a:t> with fully connected layers</a:t>
            </a:r>
            <a:r>
              <a:rPr lang="en-US" sz="2899" spc="-28">
                <a:solidFill>
                  <a:srgbClr val="2C3E50"/>
                </a:solidFill>
                <a:latin typeface="Arial MT Pro"/>
                <a:ea typeface="Arial MT Pro"/>
                <a:cs typeface="Arial MT Pro"/>
                <a:sym typeface="Arial MT Pro"/>
              </a:rPr>
              <a:t>; (2) </a:t>
            </a:r>
            <a:r>
              <a:rPr lang="en-US" b="true" sz="2899" spc="-28">
                <a:solidFill>
                  <a:srgbClr val="2C3E50"/>
                </a:solidFill>
                <a:latin typeface="Arial MT Pro Bold"/>
                <a:ea typeface="Arial MT Pro Bold"/>
                <a:cs typeface="Arial MT Pro Bold"/>
                <a:sym typeface="Arial MT Pro Bold"/>
              </a:rPr>
              <a:t>structural hyperlink features</a:t>
            </a:r>
            <a:r>
              <a:rPr lang="en-US" sz="2899" spc="-28">
                <a:solidFill>
                  <a:srgbClr val="2C3E50"/>
                </a:solidFill>
                <a:latin typeface="Arial MT Pro"/>
                <a:ea typeface="Arial MT Pro"/>
                <a:cs typeface="Arial MT Pro"/>
                <a:sym typeface="Arial MT Pro"/>
              </a:rPr>
              <a:t> derived from web</a:t>
            </a:r>
            <a:r>
              <a:rPr lang="en-US" sz="2899" spc="-28">
                <a:solidFill>
                  <a:srgbClr val="2C3E50"/>
                </a:solidFill>
                <a:latin typeface="Arial MT Pro"/>
                <a:ea typeface="Arial MT Pro"/>
                <a:cs typeface="Arial MT Pro"/>
                <a:sym typeface="Arial MT Pro"/>
              </a:rPr>
              <a:t>p</a:t>
            </a:r>
            <a:r>
              <a:rPr lang="en-US" sz="2899" spc="-28">
                <a:solidFill>
                  <a:srgbClr val="2C3E50"/>
                </a:solidFill>
                <a:latin typeface="Arial MT Pro"/>
                <a:ea typeface="Arial MT Pro"/>
                <a:cs typeface="Arial MT Pro"/>
                <a:sym typeface="Arial MT Pro"/>
              </a:rPr>
              <a:t>ag</a:t>
            </a:r>
            <a:r>
              <a:rPr lang="en-US" sz="2899" spc="-28">
                <a:solidFill>
                  <a:srgbClr val="2C3E50"/>
                </a:solidFill>
                <a:latin typeface="Arial MT Pro"/>
                <a:ea typeface="Arial MT Pro"/>
                <a:cs typeface="Arial MT Pro"/>
                <a:sym typeface="Arial MT Pro"/>
              </a:rPr>
              <a:t>e </a:t>
            </a:r>
            <a:r>
              <a:rPr lang="en-US" sz="2899" spc="-28">
                <a:solidFill>
                  <a:srgbClr val="2C3E50"/>
                </a:solidFill>
                <a:latin typeface="Arial MT Pro"/>
                <a:ea typeface="Arial MT Pro"/>
                <a:cs typeface="Arial MT Pro"/>
                <a:sym typeface="Arial MT Pro"/>
              </a:rPr>
              <a:t>HTML, modeled using tr</a:t>
            </a:r>
            <a:r>
              <a:rPr lang="en-US" sz="2899" spc="-28">
                <a:solidFill>
                  <a:srgbClr val="2C3E50"/>
                </a:solidFill>
                <a:latin typeface="Arial MT Pro"/>
                <a:ea typeface="Arial MT Pro"/>
                <a:cs typeface="Arial MT Pro"/>
                <a:sym typeface="Arial MT Pro"/>
              </a:rPr>
              <a:t>ad</a:t>
            </a:r>
            <a:r>
              <a:rPr lang="en-US" sz="2899" spc="-28">
                <a:solidFill>
                  <a:srgbClr val="2C3E50"/>
                </a:solidFill>
                <a:latin typeface="Arial MT Pro"/>
                <a:ea typeface="Arial MT Pro"/>
                <a:cs typeface="Arial MT Pro"/>
                <a:sym typeface="Arial MT Pro"/>
              </a:rPr>
              <a:t>iti</a:t>
            </a:r>
            <a:r>
              <a:rPr lang="en-US" sz="2899" spc="-28">
                <a:solidFill>
                  <a:srgbClr val="2C3E50"/>
                </a:solidFill>
                <a:latin typeface="Arial MT Pro"/>
                <a:ea typeface="Arial MT Pro"/>
                <a:cs typeface="Arial MT Pro"/>
                <a:sym typeface="Arial MT Pro"/>
              </a:rPr>
              <a:t>o</a:t>
            </a:r>
            <a:r>
              <a:rPr lang="en-US" sz="2899" spc="-28">
                <a:solidFill>
                  <a:srgbClr val="2C3E50"/>
                </a:solidFill>
                <a:latin typeface="Arial MT Pro"/>
                <a:ea typeface="Arial MT Pro"/>
                <a:cs typeface="Arial MT Pro"/>
                <a:sym typeface="Arial MT Pro"/>
              </a:rPr>
              <a:t>nal </a:t>
            </a:r>
            <a:r>
              <a:rPr lang="en-US" sz="2899" spc="-28">
                <a:solidFill>
                  <a:srgbClr val="2C3E50"/>
                </a:solidFill>
                <a:latin typeface="Arial MT Pro"/>
                <a:ea typeface="Arial MT Pro"/>
                <a:cs typeface="Arial MT Pro"/>
                <a:sym typeface="Arial MT Pro"/>
              </a:rPr>
              <a:t>m</a:t>
            </a:r>
            <a:r>
              <a:rPr lang="en-US" sz="2899" spc="-28">
                <a:solidFill>
                  <a:srgbClr val="2C3E50"/>
                </a:solidFill>
                <a:latin typeface="Arial MT Pro"/>
                <a:ea typeface="Arial MT Pro"/>
                <a:cs typeface="Arial MT Pro"/>
                <a:sym typeface="Arial MT Pro"/>
              </a:rPr>
              <a:t>achine</a:t>
            </a:r>
            <a:r>
              <a:rPr lang="en-US" sz="2899" spc="-28">
                <a:solidFill>
                  <a:srgbClr val="2C3E50"/>
                </a:solidFill>
                <a:latin typeface="Arial MT Pro"/>
                <a:ea typeface="Arial MT Pro"/>
                <a:cs typeface="Arial MT Pro"/>
                <a:sym typeface="Arial MT Pro"/>
              </a:rPr>
              <a:t> </a:t>
            </a:r>
            <a:r>
              <a:rPr lang="en-US" sz="2899" spc="-28">
                <a:solidFill>
                  <a:srgbClr val="2C3E50"/>
                </a:solidFill>
                <a:latin typeface="Arial MT Pro"/>
                <a:ea typeface="Arial MT Pro"/>
                <a:cs typeface="Arial MT Pro"/>
                <a:sym typeface="Arial MT Pro"/>
              </a:rPr>
              <a:t>lea</a:t>
            </a:r>
            <a:r>
              <a:rPr lang="en-US" sz="2899" spc="-28">
                <a:solidFill>
                  <a:srgbClr val="2C3E50"/>
                </a:solidFill>
                <a:latin typeface="Arial MT Pro"/>
                <a:ea typeface="Arial MT Pro"/>
                <a:cs typeface="Arial MT Pro"/>
                <a:sym typeface="Arial MT Pro"/>
              </a:rPr>
              <a:t>r</a:t>
            </a:r>
            <a:r>
              <a:rPr lang="en-US" sz="2899" spc="-28">
                <a:solidFill>
                  <a:srgbClr val="2C3E50"/>
                </a:solidFill>
                <a:latin typeface="Arial MT Pro"/>
                <a:ea typeface="Arial MT Pro"/>
                <a:cs typeface="Arial MT Pro"/>
                <a:sym typeface="Arial MT Pro"/>
              </a:rPr>
              <a:t>ning m</a:t>
            </a:r>
            <a:r>
              <a:rPr lang="en-US" sz="2899" spc="-28">
                <a:solidFill>
                  <a:srgbClr val="2C3E50"/>
                </a:solidFill>
                <a:latin typeface="Arial MT Pro"/>
                <a:ea typeface="Arial MT Pro"/>
                <a:cs typeface="Arial MT Pro"/>
                <a:sym typeface="Arial MT Pro"/>
              </a:rPr>
              <a:t>e</a:t>
            </a:r>
            <a:r>
              <a:rPr lang="en-US" sz="2899" spc="-28">
                <a:solidFill>
                  <a:srgbClr val="2C3E50"/>
                </a:solidFill>
                <a:latin typeface="Arial MT Pro"/>
                <a:ea typeface="Arial MT Pro"/>
                <a:cs typeface="Arial MT Pro"/>
                <a:sym typeface="Arial MT Pro"/>
              </a:rPr>
              <a:t>thod</a:t>
            </a:r>
            <a:r>
              <a:rPr lang="en-US" sz="2899" spc="-28">
                <a:solidFill>
                  <a:srgbClr val="2C3E50"/>
                </a:solidFill>
                <a:latin typeface="Arial MT Pro"/>
                <a:ea typeface="Arial MT Pro"/>
                <a:cs typeface="Arial MT Pro"/>
                <a:sym typeface="Arial MT Pro"/>
              </a:rPr>
              <a:t>s</a:t>
            </a:r>
            <a:r>
              <a:rPr lang="en-US" sz="2899" spc="-28">
                <a:solidFill>
                  <a:srgbClr val="2C3E50"/>
                </a:solidFill>
                <a:latin typeface="Arial MT Pro"/>
                <a:ea typeface="Arial MT Pro"/>
                <a:cs typeface="Arial MT Pro"/>
                <a:sym typeface="Arial MT Pro"/>
              </a:rPr>
              <a:t>, reaching </a:t>
            </a:r>
            <a:r>
              <a:rPr lang="en-US" b="true" sz="2899" spc="-28">
                <a:solidFill>
                  <a:srgbClr val="2C3E50"/>
                </a:solidFill>
                <a:latin typeface="Arial MT Pro Bold"/>
                <a:ea typeface="Arial MT Pro Bold"/>
                <a:cs typeface="Arial MT Pro Bold"/>
                <a:sym typeface="Arial MT Pro Bold"/>
              </a:rPr>
              <a:t>91 percen</a:t>
            </a:r>
            <a:r>
              <a:rPr lang="en-US" b="true" sz="2899" spc="-28">
                <a:solidFill>
                  <a:srgbClr val="2C3E50"/>
                </a:solidFill>
                <a:latin typeface="Arial MT Pro Bold"/>
                <a:ea typeface="Arial MT Pro Bold"/>
                <a:cs typeface="Arial MT Pro Bold"/>
                <a:sym typeface="Arial MT Pro Bold"/>
              </a:rPr>
              <a:t>t </a:t>
            </a:r>
            <a:r>
              <a:rPr lang="en-US" b="true" sz="2899" spc="-28">
                <a:solidFill>
                  <a:srgbClr val="2C3E50"/>
                </a:solidFill>
                <a:latin typeface="Arial MT Pro Bold"/>
                <a:ea typeface="Arial MT Pro Bold"/>
                <a:cs typeface="Arial MT Pro Bold"/>
                <a:sym typeface="Arial MT Pro Bold"/>
              </a:rPr>
              <a:t>accuracy</a:t>
            </a:r>
            <a:r>
              <a:rPr lang="en-US" sz="2899" spc="-28">
                <a:solidFill>
                  <a:srgbClr val="2C3E50"/>
                </a:solidFill>
                <a:latin typeface="Arial MT Pro"/>
                <a:ea typeface="Arial MT Pro"/>
                <a:cs typeface="Arial MT Pro"/>
                <a:sym typeface="Arial MT Pro"/>
              </a:rPr>
              <a:t>; (3) a hybrid fusion model that combines URL embeddings, </a:t>
            </a:r>
            <a:r>
              <a:rPr lang="en-US" sz="2899" spc="-28">
                <a:solidFill>
                  <a:srgbClr val="2C3E50"/>
                </a:solidFill>
                <a:latin typeface="Arial MT Pro"/>
                <a:ea typeface="Arial MT Pro"/>
                <a:cs typeface="Arial MT Pro"/>
                <a:sym typeface="Arial MT Pro"/>
              </a:rPr>
              <a:t>heuristic features</a:t>
            </a:r>
            <a:r>
              <a:rPr lang="en-US" sz="2899" spc="-28">
                <a:solidFill>
                  <a:srgbClr val="2C3E50"/>
                </a:solidFill>
                <a:latin typeface="Arial MT Pro"/>
                <a:ea typeface="Arial MT Pro"/>
                <a:cs typeface="Arial MT Pro"/>
                <a:sym typeface="Arial MT Pro"/>
              </a:rPr>
              <a:t>, and hyperlink structure, improving performance to </a:t>
            </a:r>
            <a:r>
              <a:rPr lang="en-US" b="true" sz="2899" spc="-28">
                <a:solidFill>
                  <a:srgbClr val="2C3E50"/>
                </a:solidFill>
                <a:latin typeface="Arial MT Pro Bold"/>
                <a:ea typeface="Arial MT Pro Bold"/>
                <a:cs typeface="Arial MT Pro Bold"/>
                <a:sym typeface="Arial MT Pro Bold"/>
              </a:rPr>
              <a:t>96 percent accuracy</a:t>
            </a:r>
            <a:r>
              <a:rPr lang="en-US" sz="2899" spc="-28">
                <a:solidFill>
                  <a:srgbClr val="2C3E50"/>
                </a:solidFill>
                <a:latin typeface="Arial MT Pro"/>
                <a:ea typeface="Arial MT Pro"/>
                <a:cs typeface="Arial MT Pro"/>
                <a:sym typeface="Arial MT Pro"/>
              </a:rPr>
              <a:t>; and (4) full </a:t>
            </a:r>
            <a:r>
              <a:rPr lang="en-US" b="true" sz="2899" spc="-28">
                <a:solidFill>
                  <a:srgbClr val="2C3E50"/>
                </a:solidFill>
                <a:latin typeface="Arial MT Pro Bold"/>
                <a:ea typeface="Arial MT Pro Bold"/>
                <a:cs typeface="Arial MT Pro Bold"/>
                <a:sym typeface="Arial MT Pro Bold"/>
              </a:rPr>
              <a:t>HTML DOM content embeddings</a:t>
            </a:r>
            <a:r>
              <a:rPr lang="en-US" sz="2899" spc="-28">
                <a:solidFill>
                  <a:srgbClr val="2C3E50"/>
                </a:solidFill>
                <a:latin typeface="Arial MT Pro"/>
                <a:ea typeface="Arial MT Pro"/>
                <a:cs typeface="Arial MT Pro"/>
                <a:sym typeface="Arial MT Pro"/>
              </a:rPr>
              <a:t>, where sequence models including LSTM, BiLSTM, GRU, and BiGRU are evaluated, with </a:t>
            </a:r>
            <a:r>
              <a:rPr lang="en-US" b="true" sz="2899" spc="-28">
                <a:solidFill>
                  <a:srgbClr val="2C3E50"/>
                </a:solidFill>
                <a:latin typeface="Arial MT Pro Bold"/>
                <a:ea typeface="Arial MT Pro Bold"/>
                <a:cs typeface="Arial MT Pro Bold"/>
                <a:sym typeface="Arial MT Pro Bold"/>
              </a:rPr>
              <a:t>BiGRU</a:t>
            </a:r>
            <a:r>
              <a:rPr lang="en-US" sz="2899" spc="-28">
                <a:solidFill>
                  <a:srgbClr val="2C3E50"/>
                </a:solidFill>
                <a:latin typeface="Arial MT Pro"/>
                <a:ea typeface="Arial MT Pro"/>
                <a:cs typeface="Arial MT Pro"/>
                <a:sym typeface="Arial MT Pro"/>
              </a:rPr>
              <a:t> achieving the highest accuracy of </a:t>
            </a:r>
            <a:r>
              <a:rPr lang="en-US" b="true" sz="2899" spc="-28">
                <a:solidFill>
                  <a:srgbClr val="2C3E50"/>
                </a:solidFill>
                <a:latin typeface="Arial MT Pro Bold"/>
                <a:ea typeface="Arial MT Pro Bold"/>
                <a:cs typeface="Arial MT Pro Bold"/>
                <a:sym typeface="Arial MT Pro Bold"/>
              </a:rPr>
              <a:t>97 percent</a:t>
            </a:r>
            <a:r>
              <a:rPr lang="en-US" sz="2899" spc="-28">
                <a:solidFill>
                  <a:srgbClr val="2C3E50"/>
                </a:solidFill>
                <a:latin typeface="Arial MT Pro"/>
                <a:ea typeface="Arial MT Pro"/>
                <a:cs typeface="Arial MT Pro"/>
                <a:sym typeface="Arial MT Pro"/>
              </a:rPr>
              <a:t>. These results demonstrate that integrating linguistic, structural, and content-level webpage features significantly strengthens phishing detection performance</a:t>
            </a:r>
            <a:r>
              <a:rPr lang="en-US" sz="2899" spc="-28">
                <a:solidFill>
                  <a:srgbClr val="2C3E50"/>
                </a:solidFill>
                <a:latin typeface="Arial MT Pro"/>
                <a:ea typeface="Arial MT Pro"/>
                <a:cs typeface="Arial MT Pro"/>
                <a:sym typeface="Arial MT Pro"/>
              </a:rPr>
              <a:t>.</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374119" y="1028700"/>
            <a:ext cx="12639675" cy="1764030"/>
            <a:chOff x="0" y="0"/>
            <a:chExt cx="16852900" cy="2352040"/>
          </a:xfrm>
        </p:grpSpPr>
        <p:sp>
          <p:nvSpPr>
            <p:cNvPr name="TextBox 3" id="3"/>
            <p:cNvSpPr txBox="true"/>
            <p:nvPr/>
          </p:nvSpPr>
          <p:spPr>
            <a:xfrm rot="0">
              <a:off x="0" y="-19050"/>
              <a:ext cx="16852900" cy="1432984"/>
            </a:xfrm>
            <a:prstGeom prst="rect">
              <a:avLst/>
            </a:prstGeom>
          </p:spPr>
          <p:txBody>
            <a:bodyPr anchor="t" rtlCol="false" tIns="0" lIns="0" bIns="0" rIns="0">
              <a:spAutoFit/>
            </a:bodyPr>
            <a:lstStyle/>
            <a:p>
              <a:pPr algn="l" marL="0" indent="0" lvl="0">
                <a:lnSpc>
                  <a:spcPts val="7700"/>
                </a:lnSpc>
              </a:pPr>
              <a:r>
                <a:rPr lang="en-US" b="true" sz="7000" spc="-70">
                  <a:solidFill>
                    <a:srgbClr val="2C3E50"/>
                  </a:solidFill>
                  <a:latin typeface="Telegraf Bold"/>
                  <a:ea typeface="Telegraf Bold"/>
                  <a:cs typeface="Telegraf Bold"/>
                  <a:sym typeface="Telegraf Bold"/>
                </a:rPr>
                <a:t>Introduction</a:t>
              </a:r>
            </a:p>
          </p:txBody>
        </p:sp>
        <p:sp>
          <p:nvSpPr>
            <p:cNvPr name="TextBox 4" id="4"/>
            <p:cNvSpPr txBox="true"/>
            <p:nvPr/>
          </p:nvSpPr>
          <p:spPr>
            <a:xfrm rot="0">
              <a:off x="0" y="1769534"/>
              <a:ext cx="16852900" cy="582507"/>
            </a:xfrm>
            <a:prstGeom prst="rect">
              <a:avLst/>
            </a:prstGeom>
          </p:spPr>
          <p:txBody>
            <a:bodyPr anchor="t" rtlCol="false" tIns="0" lIns="0" bIns="0" rIns="0">
              <a:spAutoFit/>
            </a:bodyPr>
            <a:lstStyle/>
            <a:p>
              <a:pPr algn="l" marL="0" indent="0" lvl="0">
                <a:lnSpc>
                  <a:spcPts val="3190"/>
                </a:lnSpc>
              </a:pPr>
            </a:p>
          </p:txBody>
        </p:sp>
      </p:grpSp>
      <p:grpSp>
        <p:nvGrpSpPr>
          <p:cNvPr name="Group 5" id="5"/>
          <p:cNvGrpSpPr/>
          <p:nvPr/>
        </p:nvGrpSpPr>
        <p:grpSpPr>
          <a:xfrm rot="0">
            <a:off x="15049500" y="0"/>
            <a:ext cx="3238500" cy="10287000"/>
            <a:chOff x="0" y="0"/>
            <a:chExt cx="852938" cy="2709333"/>
          </a:xfrm>
        </p:grpSpPr>
        <p:sp>
          <p:nvSpPr>
            <p:cNvPr name="Freeform 6" id="6"/>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18BC9C"/>
            </a:solidFill>
          </p:spPr>
        </p:sp>
        <p:sp>
          <p:nvSpPr>
            <p:cNvPr name="TextBox 7" id="7"/>
            <p:cNvSpPr txBox="true"/>
            <p:nvPr/>
          </p:nvSpPr>
          <p:spPr>
            <a:xfrm>
              <a:off x="0" y="-76200"/>
              <a:ext cx="852938" cy="2785533"/>
            </a:xfrm>
            <a:prstGeom prst="rect">
              <a:avLst/>
            </a:prstGeom>
          </p:spPr>
          <p:txBody>
            <a:bodyPr anchor="ctr" rtlCol="false" tIns="50800" lIns="50800" bIns="50800" rIns="50800"/>
            <a:lstStyle/>
            <a:p>
              <a:pPr algn="ctr" marL="0" indent="0" lvl="0">
                <a:lnSpc>
                  <a:spcPts val="2800"/>
                </a:lnSpc>
              </a:pPr>
            </a:p>
          </p:txBody>
        </p:sp>
      </p:grpSp>
      <p:sp>
        <p:nvSpPr>
          <p:cNvPr name="AutoShape 8" id="8"/>
          <p:cNvSpPr/>
          <p:nvPr/>
        </p:nvSpPr>
        <p:spPr>
          <a:xfrm>
            <a:off x="374119" y="9620250"/>
            <a:ext cx="14235399" cy="0"/>
          </a:xfrm>
          <a:prstGeom prst="line">
            <a:avLst/>
          </a:prstGeom>
          <a:ln cap="flat" w="9525">
            <a:solidFill>
              <a:srgbClr val="2C3E50"/>
            </a:solidFill>
            <a:prstDash val="solid"/>
            <a:headEnd type="none" len="sm" w="sm"/>
            <a:tailEnd type="none" len="sm" w="sm"/>
          </a:ln>
        </p:spPr>
      </p:sp>
      <p:sp>
        <p:nvSpPr>
          <p:cNvPr name="TextBox 9" id="9"/>
          <p:cNvSpPr txBox="true"/>
          <p:nvPr/>
        </p:nvSpPr>
        <p:spPr>
          <a:xfrm rot="0">
            <a:off x="374119" y="2343130"/>
            <a:ext cx="14235399" cy="6212841"/>
          </a:xfrm>
          <a:prstGeom prst="rect">
            <a:avLst/>
          </a:prstGeom>
        </p:spPr>
        <p:txBody>
          <a:bodyPr anchor="t" rtlCol="false" tIns="0" lIns="0" bIns="0" rIns="0">
            <a:spAutoFit/>
          </a:bodyPr>
          <a:lstStyle/>
          <a:p>
            <a:pPr algn="just">
              <a:lnSpc>
                <a:spcPts val="4059"/>
              </a:lnSpc>
              <a:spcBef>
                <a:spcPct val="0"/>
              </a:spcBef>
            </a:pPr>
            <a:r>
              <a:rPr lang="en-US" b="true" sz="2899" spc="-28">
                <a:solidFill>
                  <a:srgbClr val="2C3E50"/>
                </a:solidFill>
                <a:latin typeface="Arial MT Pro Bold"/>
                <a:ea typeface="Arial MT Pro Bold"/>
                <a:cs typeface="Arial MT Pro Bold"/>
                <a:sym typeface="Arial MT Pro Bold"/>
              </a:rPr>
              <a:t>Problem: </a:t>
            </a:r>
            <a:r>
              <a:rPr lang="en-US" sz="2899" spc="-28">
                <a:solidFill>
                  <a:srgbClr val="2C3E50"/>
                </a:solidFill>
                <a:latin typeface="Arial MT Pro"/>
                <a:ea typeface="Arial MT Pro"/>
                <a:cs typeface="Arial MT Pro"/>
                <a:sym typeface="Arial MT Pro"/>
              </a:rPr>
              <a:t>Phishing is a</a:t>
            </a:r>
            <a:r>
              <a:rPr lang="en-US" sz="2899" spc="-28">
                <a:solidFill>
                  <a:srgbClr val="2C3E50"/>
                </a:solidFill>
                <a:latin typeface="Arial MT Pro"/>
                <a:ea typeface="Arial MT Pro"/>
                <a:cs typeface="Arial MT Pro"/>
                <a:sym typeface="Arial MT Pro"/>
              </a:rPr>
              <a:t> social engineering attack to steal sensitive information or deliver malware.It is widespread and causes b</a:t>
            </a:r>
            <a:r>
              <a:rPr lang="en-US" sz="2899" spc="-28" u="none">
                <a:solidFill>
                  <a:srgbClr val="2C3E50"/>
                </a:solidFill>
                <a:latin typeface="Arial MT Pro"/>
                <a:ea typeface="Arial MT Pro"/>
                <a:cs typeface="Arial MT Pro"/>
                <a:sym typeface="Arial MT Pro"/>
              </a:rPr>
              <a:t>i</a:t>
            </a:r>
            <a:r>
              <a:rPr lang="en-US" sz="2899" spc="-28">
                <a:solidFill>
                  <a:srgbClr val="2C3E50"/>
                </a:solidFill>
                <a:latin typeface="Arial MT Pro"/>
                <a:ea typeface="Arial MT Pro"/>
                <a:cs typeface="Arial MT Pro"/>
                <a:sym typeface="Arial MT Pro"/>
              </a:rPr>
              <a:t>ll</a:t>
            </a:r>
            <a:r>
              <a:rPr lang="en-US" sz="2899" spc="-28" u="none">
                <a:solidFill>
                  <a:srgbClr val="2C3E50"/>
                </a:solidFill>
                <a:latin typeface="Arial MT Pro"/>
                <a:ea typeface="Arial MT Pro"/>
                <a:cs typeface="Arial MT Pro"/>
                <a:sym typeface="Arial MT Pro"/>
              </a:rPr>
              <a:t>i</a:t>
            </a:r>
            <a:r>
              <a:rPr lang="en-US" sz="2899" spc="-28">
                <a:solidFill>
                  <a:srgbClr val="2C3E50"/>
                </a:solidFill>
                <a:latin typeface="Arial MT Pro"/>
                <a:ea typeface="Arial MT Pro"/>
                <a:cs typeface="Arial MT Pro"/>
                <a:sym typeface="Arial MT Pro"/>
              </a:rPr>
              <a:t>ons of dollars in financial loss annually.</a:t>
            </a:r>
          </a:p>
          <a:p>
            <a:pPr algn="just">
              <a:lnSpc>
                <a:spcPts val="4059"/>
              </a:lnSpc>
              <a:spcBef>
                <a:spcPct val="0"/>
              </a:spcBef>
            </a:pPr>
            <a:r>
              <a:rPr lang="en-US" b="true" sz="2899" spc="-28">
                <a:solidFill>
                  <a:srgbClr val="2C3E50"/>
                </a:solidFill>
                <a:latin typeface="Arial MT Pro Bold"/>
                <a:ea typeface="Arial MT Pro Bold"/>
                <a:cs typeface="Arial MT Pro Bold"/>
                <a:sym typeface="Arial MT Pro Bold"/>
              </a:rPr>
              <a:t>Limitations: </a:t>
            </a:r>
            <a:r>
              <a:rPr lang="en-US" sz="2899" spc="-28">
                <a:solidFill>
                  <a:srgbClr val="2C3E50"/>
                </a:solidFill>
                <a:latin typeface="Arial MT Pro"/>
                <a:ea typeface="Arial MT Pro"/>
                <a:cs typeface="Arial MT Pro"/>
                <a:sym typeface="Arial MT Pro"/>
              </a:rPr>
              <a:t>Blacklists and signature-based systems are reactive. They fail to detect new or evolving phishing websites.</a:t>
            </a:r>
          </a:p>
          <a:p>
            <a:pPr algn="just">
              <a:lnSpc>
                <a:spcPts val="4059"/>
              </a:lnSpc>
              <a:spcBef>
                <a:spcPct val="0"/>
              </a:spcBef>
            </a:pPr>
            <a:r>
              <a:rPr lang="en-US" b="true" sz="2899" spc="-28">
                <a:solidFill>
                  <a:srgbClr val="2C3E50"/>
                </a:solidFill>
                <a:latin typeface="Arial MT Pro Bold"/>
                <a:ea typeface="Arial MT Pro Bold"/>
                <a:cs typeface="Arial MT Pro Bold"/>
                <a:sym typeface="Arial MT Pro Bold"/>
              </a:rPr>
              <a:t>Research Gap: </a:t>
            </a:r>
            <a:r>
              <a:rPr lang="en-US" sz="2899" spc="-28">
                <a:solidFill>
                  <a:srgbClr val="2C3E50"/>
                </a:solidFill>
                <a:latin typeface="Arial MT Pro"/>
                <a:ea typeface="Arial MT Pro"/>
                <a:cs typeface="Arial MT Pro"/>
                <a:sym typeface="Arial MT Pro"/>
              </a:rPr>
              <a:t>Most existing detection models rely mainly on only one type of feature (URL or HTML or hyperlink structure). This limits accuracy because phishing signals appear at multiple levels of the webpage.</a:t>
            </a:r>
          </a:p>
          <a:p>
            <a:pPr algn="just">
              <a:lnSpc>
                <a:spcPts val="4059"/>
              </a:lnSpc>
              <a:spcBef>
                <a:spcPct val="0"/>
              </a:spcBef>
            </a:pPr>
            <a:r>
              <a:rPr lang="en-US" b="true" sz="2899" spc="-28">
                <a:solidFill>
                  <a:srgbClr val="2C3E50"/>
                </a:solidFill>
                <a:latin typeface="Arial MT Pro Bold"/>
                <a:ea typeface="Arial MT Pro Bold"/>
                <a:cs typeface="Arial MT Pro Bold"/>
                <a:sym typeface="Arial MT Pro Bold"/>
              </a:rPr>
              <a:t>Goal: </a:t>
            </a:r>
            <a:r>
              <a:rPr lang="en-US" sz="2899" spc="-28">
                <a:solidFill>
                  <a:srgbClr val="2C3E50"/>
                </a:solidFill>
                <a:latin typeface="Arial MT Pro"/>
                <a:ea typeface="Arial MT Pro"/>
                <a:cs typeface="Arial MT Pro"/>
                <a:sym typeface="Arial MT Pro"/>
              </a:rPr>
              <a:t>Develop a proactive detection model that integrates: 1.URL features 2.Structural hyperlink features 3.Full HTML content feature-set to achieve higher accuracy and robustness.</a:t>
            </a:r>
          </a:p>
          <a:p>
            <a:pPr algn="just">
              <a:lnSpc>
                <a:spcPts val="4059"/>
              </a:lnSpc>
              <a:spcBef>
                <a:spcPct val="0"/>
              </a:spcBef>
            </a:pPr>
            <a:r>
              <a:rPr lang="en-US" b="true" sz="2899" spc="-28">
                <a:solidFill>
                  <a:srgbClr val="2C3E50"/>
                </a:solidFill>
                <a:latin typeface="Arial MT Pro Bold"/>
                <a:ea typeface="Arial MT Pro Bold"/>
                <a:cs typeface="Arial MT Pro Bold"/>
                <a:sym typeface="Arial MT Pro Bold"/>
              </a:rPr>
              <a:t>Scope: </a:t>
            </a:r>
            <a:r>
              <a:rPr lang="en-US" sz="2899" spc="-28">
                <a:solidFill>
                  <a:srgbClr val="2C3E50"/>
                </a:solidFill>
                <a:latin typeface="Arial MT Pro"/>
                <a:ea typeface="Arial MT Pro"/>
                <a:cs typeface="Arial MT Pro"/>
                <a:sym typeface="Arial MT Pro"/>
              </a:rPr>
              <a:t>This project focuses on combining multiple heterogeneous feature sets for stronger detection.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666750" y="693399"/>
            <a:ext cx="12639675" cy="1764030"/>
            <a:chOff x="0" y="0"/>
            <a:chExt cx="16852900" cy="2352040"/>
          </a:xfrm>
        </p:grpSpPr>
        <p:sp>
          <p:nvSpPr>
            <p:cNvPr name="TextBox 3" id="3"/>
            <p:cNvSpPr txBox="true"/>
            <p:nvPr/>
          </p:nvSpPr>
          <p:spPr>
            <a:xfrm rot="0">
              <a:off x="0" y="-19050"/>
              <a:ext cx="16852900" cy="1432984"/>
            </a:xfrm>
            <a:prstGeom prst="rect">
              <a:avLst/>
            </a:prstGeom>
          </p:spPr>
          <p:txBody>
            <a:bodyPr anchor="t" rtlCol="false" tIns="0" lIns="0" bIns="0" rIns="0">
              <a:spAutoFit/>
            </a:bodyPr>
            <a:lstStyle/>
            <a:p>
              <a:pPr algn="l" marL="0" indent="0" lvl="0">
                <a:lnSpc>
                  <a:spcPts val="7700"/>
                </a:lnSpc>
              </a:pPr>
              <a:r>
                <a:rPr lang="en-US" b="true" sz="7000" spc="-70">
                  <a:solidFill>
                    <a:srgbClr val="2C3E50"/>
                  </a:solidFill>
                  <a:latin typeface="Telegraf Bold"/>
                  <a:ea typeface="Telegraf Bold"/>
                  <a:cs typeface="Telegraf Bold"/>
                  <a:sym typeface="Telegraf Bold"/>
                </a:rPr>
                <a:t>Literature Review</a:t>
              </a:r>
            </a:p>
          </p:txBody>
        </p:sp>
        <p:sp>
          <p:nvSpPr>
            <p:cNvPr name="TextBox 4" id="4"/>
            <p:cNvSpPr txBox="true"/>
            <p:nvPr/>
          </p:nvSpPr>
          <p:spPr>
            <a:xfrm rot="0">
              <a:off x="0" y="1769534"/>
              <a:ext cx="16852900" cy="582507"/>
            </a:xfrm>
            <a:prstGeom prst="rect">
              <a:avLst/>
            </a:prstGeom>
          </p:spPr>
          <p:txBody>
            <a:bodyPr anchor="t" rtlCol="false" tIns="0" lIns="0" bIns="0" rIns="0">
              <a:spAutoFit/>
            </a:bodyPr>
            <a:lstStyle/>
            <a:p>
              <a:pPr algn="l" marL="0" indent="0" lvl="0">
                <a:lnSpc>
                  <a:spcPts val="3190"/>
                </a:lnSpc>
              </a:pPr>
              <a:r>
                <a:rPr lang="en-US" b="true" sz="2900" spc="-29">
                  <a:solidFill>
                    <a:srgbClr val="2C3E50"/>
                  </a:solidFill>
                  <a:latin typeface="Telegraf Bold"/>
                  <a:ea typeface="Telegraf Bold"/>
                  <a:cs typeface="Telegraf Bold"/>
                  <a:sym typeface="Telegraf Bold"/>
                </a:rPr>
                <a:t>K</a:t>
              </a:r>
              <a:r>
                <a:rPr lang="en-US" b="true" sz="2900" spc="-29">
                  <a:solidFill>
                    <a:srgbClr val="2C3E50"/>
                  </a:solidFill>
                  <a:latin typeface="Telegraf Bold"/>
                  <a:ea typeface="Telegraf Bold"/>
                  <a:cs typeface="Telegraf Bold"/>
                  <a:sym typeface="Telegraf Bold"/>
                </a:rPr>
                <a:t>ey studies and findings on phishing detection techniques.</a:t>
              </a:r>
            </a:p>
          </p:txBody>
        </p:sp>
      </p:grpSp>
      <p:grpSp>
        <p:nvGrpSpPr>
          <p:cNvPr name="Group 5" id="5"/>
          <p:cNvGrpSpPr/>
          <p:nvPr/>
        </p:nvGrpSpPr>
        <p:grpSpPr>
          <a:xfrm rot="0">
            <a:off x="15049500" y="0"/>
            <a:ext cx="3238500" cy="10287000"/>
            <a:chOff x="0" y="0"/>
            <a:chExt cx="852938" cy="2709333"/>
          </a:xfrm>
        </p:grpSpPr>
        <p:sp>
          <p:nvSpPr>
            <p:cNvPr name="Freeform 6" id="6"/>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18BC9C"/>
            </a:solidFill>
          </p:spPr>
        </p:sp>
        <p:sp>
          <p:nvSpPr>
            <p:cNvPr name="TextBox 7" id="7"/>
            <p:cNvSpPr txBox="true"/>
            <p:nvPr/>
          </p:nvSpPr>
          <p:spPr>
            <a:xfrm>
              <a:off x="0" y="-76200"/>
              <a:ext cx="852938" cy="2785533"/>
            </a:xfrm>
            <a:prstGeom prst="rect">
              <a:avLst/>
            </a:prstGeom>
          </p:spPr>
          <p:txBody>
            <a:bodyPr anchor="ctr" rtlCol="false" tIns="50800" lIns="50800" bIns="50800" rIns="50800"/>
            <a:lstStyle/>
            <a:p>
              <a:pPr algn="ctr" marL="0" indent="0" lvl="0">
                <a:lnSpc>
                  <a:spcPts val="2800"/>
                </a:lnSpc>
              </a:pPr>
            </a:p>
          </p:txBody>
        </p:sp>
      </p:grpSp>
      <p:sp>
        <p:nvSpPr>
          <p:cNvPr name="AutoShape 8" id="8"/>
          <p:cNvSpPr/>
          <p:nvPr/>
        </p:nvSpPr>
        <p:spPr>
          <a:xfrm>
            <a:off x="666750" y="9620250"/>
            <a:ext cx="12006905" cy="0"/>
          </a:xfrm>
          <a:prstGeom prst="line">
            <a:avLst/>
          </a:prstGeom>
          <a:ln cap="flat" w="9525">
            <a:solidFill>
              <a:srgbClr val="2C3E50"/>
            </a:solidFill>
            <a:prstDash val="solid"/>
            <a:headEnd type="none" len="sm" w="sm"/>
            <a:tailEnd type="none" len="sm" w="sm"/>
          </a:ln>
        </p:spPr>
      </p:sp>
      <p:sp>
        <p:nvSpPr>
          <p:cNvPr name="TextBox 9" id="9"/>
          <p:cNvSpPr txBox="true"/>
          <p:nvPr/>
        </p:nvSpPr>
        <p:spPr>
          <a:xfrm rot="0">
            <a:off x="666750" y="2677921"/>
            <a:ext cx="12006905" cy="6212841"/>
          </a:xfrm>
          <a:prstGeom prst="rect">
            <a:avLst/>
          </a:prstGeom>
        </p:spPr>
        <p:txBody>
          <a:bodyPr anchor="t" rtlCol="false" tIns="0" lIns="0" bIns="0" rIns="0">
            <a:spAutoFit/>
          </a:bodyPr>
          <a:lstStyle/>
          <a:p>
            <a:pPr algn="just" marL="626101" indent="-313050" lvl="1">
              <a:lnSpc>
                <a:spcPts val="4059"/>
              </a:lnSpc>
              <a:buAutoNum type="arabicPeriod" startAt="1"/>
            </a:pPr>
            <a:r>
              <a:rPr lang="en-US" sz="2899" spc="-28" u="sng">
                <a:solidFill>
                  <a:srgbClr val="2C3E50"/>
                </a:solidFill>
                <a:latin typeface="Arial MT Pro"/>
                <a:ea typeface="Arial MT Pro"/>
                <a:cs typeface="Arial MT Pro"/>
                <a:sym typeface="Arial MT Pro"/>
                <a:hlinkClick r:id="rId2" tooltip="http://dx.doi.org/10.32604/jai.2023.043366"/>
              </a:rPr>
              <a:t>Kalla and Kuraku (2023)</a:t>
            </a:r>
            <a:r>
              <a:rPr lang="en-US" sz="2899" spc="-28">
                <a:solidFill>
                  <a:srgbClr val="2C3E50"/>
                </a:solidFill>
                <a:latin typeface="Arial MT Pro"/>
                <a:ea typeface="Arial MT Pro"/>
                <a:cs typeface="Arial MT Pro"/>
                <a:sym typeface="Arial MT Pro"/>
              </a:rPr>
              <a:t> compare seven machine learning models, including Logistic Regression, Random Forest, and Linear SVC, to detect phishing URLs, evaluating their accuracy, precision, and recall.</a:t>
            </a:r>
          </a:p>
          <a:p>
            <a:pPr algn="just" marL="626101" indent="-313050" lvl="1">
              <a:lnSpc>
                <a:spcPts val="4059"/>
              </a:lnSpc>
              <a:buAutoNum type="arabicPeriod" startAt="1"/>
            </a:pPr>
            <a:r>
              <a:rPr lang="en-US" sz="2899" spc="-28" u="sng">
                <a:solidFill>
                  <a:srgbClr val="2C3E50"/>
                </a:solidFill>
                <a:latin typeface="Arial MT Pro"/>
                <a:ea typeface="Arial MT Pro"/>
                <a:cs typeface="Arial MT Pro"/>
                <a:sym typeface="Arial MT Pro"/>
                <a:hlinkClick r:id="rId3" tooltip="http://dx.doi.org/10.1007/s11235-021-00850-6"/>
              </a:rPr>
              <a:t>Rao et al. (2022)</a:t>
            </a:r>
            <a:r>
              <a:rPr lang="en-US" sz="2899" spc="-28">
                <a:solidFill>
                  <a:srgbClr val="2C3E50"/>
                </a:solidFill>
                <a:latin typeface="Arial MT Pro"/>
                <a:ea typeface="Arial MT Pro"/>
                <a:cs typeface="Arial MT Pro"/>
                <a:sym typeface="Arial MT Pro"/>
              </a:rPr>
              <a:t> propose a phishing detection model using various word embeddings (like TF-IDF, Word2Vec, and FastText) on website source code with classifiers like RF, SVM, XGBoost.</a:t>
            </a:r>
          </a:p>
          <a:p>
            <a:pPr algn="just" marL="626101" indent="-313050" lvl="1">
              <a:lnSpc>
                <a:spcPts val="4059"/>
              </a:lnSpc>
              <a:buAutoNum type="arabicPeriod" startAt="1"/>
            </a:pPr>
            <a:r>
              <a:rPr lang="en-US" sz="2899" spc="-28" u="sng">
                <a:solidFill>
                  <a:srgbClr val="2C3E50"/>
                </a:solidFill>
                <a:latin typeface="Arial MT Pro"/>
                <a:ea typeface="Arial MT Pro"/>
                <a:cs typeface="Arial MT Pro"/>
                <a:sym typeface="Arial MT Pro"/>
                <a:hlinkClick r:id="rId4" tooltip="http://dx.doi.org/10.1038/s41598-022-10841-5"/>
              </a:rPr>
              <a:t>Aljofey et al. (2022)</a:t>
            </a:r>
            <a:r>
              <a:rPr lang="en-US" sz="2899" spc="-28">
                <a:solidFill>
                  <a:srgbClr val="2C3E50"/>
                </a:solidFill>
                <a:latin typeface="Arial MT Pro"/>
                <a:ea typeface="Arial MT Pro"/>
                <a:cs typeface="Arial MT Pro"/>
                <a:sym typeface="Arial MT Pro"/>
              </a:rPr>
              <a:t> propose a phishing detection model using a hybrid feature set of URL character sequences, HTML hyperlink information, and text content (TF-IDF), with an XGBoost classifier.</a:t>
            </a:r>
          </a:p>
          <a:p>
            <a:pPr algn="just" marL="626101" indent="-313050" lvl="1">
              <a:lnSpc>
                <a:spcPts val="4059"/>
              </a:lnSpc>
              <a:spcBef>
                <a:spcPct val="0"/>
              </a:spcBef>
              <a:buAutoNum type="arabicPeriod" startAt="1"/>
            </a:pPr>
            <a:r>
              <a:rPr lang="en-US" sz="2899" spc="-28" u="sng">
                <a:solidFill>
                  <a:srgbClr val="2C3E50"/>
                </a:solidFill>
                <a:latin typeface="Arial MT Pro"/>
                <a:ea typeface="Arial MT Pro"/>
                <a:cs typeface="Arial MT Pro"/>
                <a:sym typeface="Arial MT Pro"/>
                <a:hlinkClick r:id="rId5" tooltip="https://doi.org/10.1007/s12652-018-0798-z"/>
              </a:rPr>
              <a:t>Jain and Gupta (2018)</a:t>
            </a:r>
            <a:r>
              <a:rPr lang="en-US" sz="2899" spc="-28">
                <a:solidFill>
                  <a:srgbClr val="2C3E50"/>
                </a:solidFill>
                <a:latin typeface="Arial MT Pro"/>
                <a:ea typeface="Arial MT Pro"/>
                <a:cs typeface="Arial MT Pro"/>
                <a:sym typeface="Arial MT Pro"/>
              </a:rPr>
              <a:t> propose a client-side phishing detection model  by applying machine learning to 12 novel features extracted exclusively from HTML hyperlinks.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15049500" y="0"/>
            <a:ext cx="3238500" cy="10287000"/>
            <a:chOff x="0" y="0"/>
            <a:chExt cx="852938" cy="2709333"/>
          </a:xfrm>
        </p:grpSpPr>
        <p:sp>
          <p:nvSpPr>
            <p:cNvPr name="Freeform 3" id="3"/>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18BC9C"/>
            </a:solidFill>
          </p:spPr>
        </p:sp>
        <p:sp>
          <p:nvSpPr>
            <p:cNvPr name="TextBox 4" id="4"/>
            <p:cNvSpPr txBox="true"/>
            <p:nvPr/>
          </p:nvSpPr>
          <p:spPr>
            <a:xfrm>
              <a:off x="0" y="-76200"/>
              <a:ext cx="852938" cy="2785533"/>
            </a:xfrm>
            <a:prstGeom prst="rect">
              <a:avLst/>
            </a:prstGeom>
          </p:spPr>
          <p:txBody>
            <a:bodyPr anchor="ctr" rtlCol="false" tIns="50800" lIns="50800" bIns="50800" rIns="50800"/>
            <a:lstStyle/>
            <a:p>
              <a:pPr algn="ctr" marL="0" indent="0" lvl="0">
                <a:lnSpc>
                  <a:spcPts val="2800"/>
                </a:lnSpc>
              </a:pPr>
            </a:p>
          </p:txBody>
        </p:sp>
      </p:grpSp>
      <p:sp>
        <p:nvSpPr>
          <p:cNvPr name="Freeform 5" id="5"/>
          <p:cNvSpPr/>
          <p:nvPr/>
        </p:nvSpPr>
        <p:spPr>
          <a:xfrm flipH="false" flipV="false" rot="0">
            <a:off x="666750" y="4669135"/>
            <a:ext cx="13053910" cy="5069269"/>
          </a:xfrm>
          <a:custGeom>
            <a:avLst/>
            <a:gdLst/>
            <a:ahLst/>
            <a:cxnLst/>
            <a:rect r="r" b="b" t="t" l="l"/>
            <a:pathLst>
              <a:path h="5069269" w="13053910">
                <a:moveTo>
                  <a:pt x="0" y="0"/>
                </a:moveTo>
                <a:lnTo>
                  <a:pt x="13053910" y="0"/>
                </a:lnTo>
                <a:lnTo>
                  <a:pt x="13053910" y="5069268"/>
                </a:lnTo>
                <a:lnTo>
                  <a:pt x="0" y="5069268"/>
                </a:lnTo>
                <a:lnTo>
                  <a:pt x="0" y="0"/>
                </a:lnTo>
                <a:close/>
              </a:path>
            </a:pathLst>
          </a:custGeom>
          <a:blipFill>
            <a:blip r:embed="rId2"/>
            <a:stretch>
              <a:fillRect l="0" t="0" r="0" b="0"/>
            </a:stretch>
          </a:blipFill>
        </p:spPr>
      </p:sp>
      <p:grpSp>
        <p:nvGrpSpPr>
          <p:cNvPr name="Group 6" id="6"/>
          <p:cNvGrpSpPr/>
          <p:nvPr/>
        </p:nvGrpSpPr>
        <p:grpSpPr>
          <a:xfrm rot="0">
            <a:off x="666750" y="651490"/>
            <a:ext cx="12639675" cy="1805940"/>
            <a:chOff x="0" y="0"/>
            <a:chExt cx="16852900" cy="2407920"/>
          </a:xfrm>
        </p:grpSpPr>
        <p:sp>
          <p:nvSpPr>
            <p:cNvPr name="TextBox 7" id="7"/>
            <p:cNvSpPr txBox="true"/>
            <p:nvPr/>
          </p:nvSpPr>
          <p:spPr>
            <a:xfrm rot="0">
              <a:off x="0" y="-19050"/>
              <a:ext cx="16852900" cy="1432984"/>
            </a:xfrm>
            <a:prstGeom prst="rect">
              <a:avLst/>
            </a:prstGeom>
          </p:spPr>
          <p:txBody>
            <a:bodyPr anchor="t" rtlCol="false" tIns="0" lIns="0" bIns="0" rIns="0">
              <a:spAutoFit/>
            </a:bodyPr>
            <a:lstStyle/>
            <a:p>
              <a:pPr algn="l" marL="0" indent="0" lvl="0">
                <a:lnSpc>
                  <a:spcPts val="7700"/>
                </a:lnSpc>
              </a:pPr>
              <a:r>
                <a:rPr lang="en-US" b="true" sz="7000" spc="-70">
                  <a:solidFill>
                    <a:srgbClr val="2C3E50"/>
                  </a:solidFill>
                  <a:latin typeface="Telegraf Bold"/>
                  <a:ea typeface="Telegraf Bold"/>
                  <a:cs typeface="Telegraf Bold"/>
                  <a:sym typeface="Telegraf Bold"/>
                </a:rPr>
                <a:t>Methodology</a:t>
              </a:r>
            </a:p>
          </p:txBody>
        </p:sp>
        <p:sp>
          <p:nvSpPr>
            <p:cNvPr name="TextBox 8" id="8"/>
            <p:cNvSpPr txBox="true"/>
            <p:nvPr/>
          </p:nvSpPr>
          <p:spPr>
            <a:xfrm rot="0">
              <a:off x="0" y="1760009"/>
              <a:ext cx="16852900" cy="647912"/>
            </a:xfrm>
            <a:prstGeom prst="rect">
              <a:avLst/>
            </a:prstGeom>
          </p:spPr>
          <p:txBody>
            <a:bodyPr anchor="t" rtlCol="false" tIns="0" lIns="0" bIns="0" rIns="0">
              <a:spAutoFit/>
            </a:bodyPr>
            <a:lstStyle/>
            <a:p>
              <a:pPr algn="l" marL="0" indent="0" lvl="0">
                <a:lnSpc>
                  <a:spcPts val="3519"/>
                </a:lnSpc>
              </a:pPr>
              <a:r>
                <a:rPr lang="en-US" b="true" sz="3199" spc="-31">
                  <a:solidFill>
                    <a:srgbClr val="2C3E50"/>
                  </a:solidFill>
                  <a:latin typeface="Telegraf Bold"/>
                  <a:ea typeface="Telegraf Bold"/>
                  <a:cs typeface="Telegraf Bold"/>
                  <a:sym typeface="Telegraf Bold"/>
                </a:rPr>
                <a:t>Data</a:t>
              </a:r>
              <a:r>
                <a:rPr lang="en-US" b="true" sz="3199" spc="-31">
                  <a:solidFill>
                    <a:srgbClr val="2C3E50"/>
                  </a:solidFill>
                  <a:latin typeface="Telegraf Bold"/>
                  <a:ea typeface="Telegraf Bold"/>
                  <a:cs typeface="Telegraf Bold"/>
                  <a:sym typeface="Telegraf Bold"/>
                </a:rPr>
                <a:t> Collection</a:t>
              </a:r>
            </a:p>
          </p:txBody>
        </p:sp>
      </p:grpSp>
      <p:sp>
        <p:nvSpPr>
          <p:cNvPr name="TextBox 9" id="9"/>
          <p:cNvSpPr txBox="true"/>
          <p:nvPr/>
        </p:nvSpPr>
        <p:spPr>
          <a:xfrm rot="0">
            <a:off x="666750" y="2371705"/>
            <a:ext cx="12006905" cy="1889761"/>
          </a:xfrm>
          <a:prstGeom prst="rect">
            <a:avLst/>
          </a:prstGeom>
        </p:spPr>
        <p:txBody>
          <a:bodyPr anchor="t" rtlCol="false" tIns="0" lIns="0" bIns="0" rIns="0">
            <a:spAutoFit/>
          </a:bodyPr>
          <a:lstStyle/>
          <a:p>
            <a:pPr algn="just">
              <a:lnSpc>
                <a:spcPts val="2939"/>
              </a:lnSpc>
              <a:spcBef>
                <a:spcPct val="0"/>
              </a:spcBef>
            </a:pPr>
            <a:r>
              <a:rPr lang="en-US" sz="2099" spc="-20">
                <a:solidFill>
                  <a:srgbClr val="2C3E50"/>
                </a:solidFill>
                <a:latin typeface="Arial MT Pro"/>
                <a:ea typeface="Arial MT Pro"/>
                <a:cs typeface="Arial MT Pro"/>
                <a:sym typeface="Arial MT Pro"/>
              </a:rPr>
              <a:t>For this study, we utilized a public dataset from Mendeley Data (</a:t>
            </a:r>
            <a:r>
              <a:rPr lang="en-US" sz="2099" spc="-20" u="sng">
                <a:solidFill>
                  <a:srgbClr val="2C3E50"/>
                </a:solidFill>
                <a:latin typeface="Arial MT Pro"/>
                <a:ea typeface="Arial MT Pro"/>
                <a:cs typeface="Arial MT Pro"/>
                <a:sym typeface="Arial MT Pro"/>
                <a:hlinkClick r:id="rId3" tooltip="https://data.mendeley.com/datasets/n96ncsr5g4/1"/>
              </a:rPr>
              <a:t>source</a:t>
            </a:r>
            <a:r>
              <a:rPr lang="en-US" sz="2099" spc="-20">
                <a:solidFill>
                  <a:srgbClr val="2C3E50"/>
                </a:solidFill>
                <a:latin typeface="Arial MT Pro"/>
                <a:ea typeface="Arial MT Pro"/>
                <a:cs typeface="Arial MT Pro"/>
                <a:sym typeface="Arial MT Pro"/>
              </a:rPr>
              <a:t>), which contains the URLs and HTML DOM for 80,000 websites. This dataset is composed of 30,000 phishing and 50,000 legitimate sites. To optimize our feature extraction pipeline, we pre-processed the entire 80,000-site corpus by parsing each HTML file into a Beautiful Soup object and serializing these objects into pickle files for efficient, repeatable access.</a:t>
            </a:r>
          </a:p>
        </p:txBody>
      </p:sp>
      <p:sp>
        <p:nvSpPr>
          <p:cNvPr name="TextBox 10" id="10"/>
          <p:cNvSpPr txBox="true"/>
          <p:nvPr/>
        </p:nvSpPr>
        <p:spPr>
          <a:xfrm rot="0">
            <a:off x="666750" y="4204315"/>
            <a:ext cx="3451014" cy="464820"/>
          </a:xfrm>
          <a:prstGeom prst="rect">
            <a:avLst/>
          </a:prstGeom>
        </p:spPr>
        <p:txBody>
          <a:bodyPr anchor="t" rtlCol="false" tIns="0" lIns="0" bIns="0" rIns="0">
            <a:spAutoFit/>
          </a:bodyPr>
          <a:lstStyle/>
          <a:p>
            <a:pPr algn="l">
              <a:lnSpc>
                <a:spcPts val="3780"/>
              </a:lnSpc>
            </a:pPr>
            <a:r>
              <a:rPr lang="en-US" sz="2700" b="true">
                <a:solidFill>
                  <a:srgbClr val="2C3E50"/>
                </a:solidFill>
                <a:latin typeface="Canva Sans Bold"/>
                <a:ea typeface="Canva Sans Bold"/>
                <a:cs typeface="Canva Sans Bold"/>
                <a:sym typeface="Canva Sans Bold"/>
              </a:rPr>
              <a:t>Architecture</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657225" y="448899"/>
            <a:ext cx="12639675" cy="1805940"/>
            <a:chOff x="0" y="0"/>
            <a:chExt cx="16852900" cy="2407920"/>
          </a:xfrm>
        </p:grpSpPr>
        <p:sp>
          <p:nvSpPr>
            <p:cNvPr name="TextBox 3" id="3"/>
            <p:cNvSpPr txBox="true"/>
            <p:nvPr/>
          </p:nvSpPr>
          <p:spPr>
            <a:xfrm rot="0">
              <a:off x="0" y="-19050"/>
              <a:ext cx="16852900" cy="1432984"/>
            </a:xfrm>
            <a:prstGeom prst="rect">
              <a:avLst/>
            </a:prstGeom>
          </p:spPr>
          <p:txBody>
            <a:bodyPr anchor="t" rtlCol="false" tIns="0" lIns="0" bIns="0" rIns="0">
              <a:spAutoFit/>
            </a:bodyPr>
            <a:lstStyle/>
            <a:p>
              <a:pPr algn="l" marL="0" indent="0" lvl="0">
                <a:lnSpc>
                  <a:spcPts val="7700"/>
                </a:lnSpc>
              </a:pPr>
              <a:r>
                <a:rPr lang="en-US" b="true" sz="7000" spc="-70">
                  <a:solidFill>
                    <a:srgbClr val="2C3E50"/>
                  </a:solidFill>
                  <a:latin typeface="Telegraf Bold"/>
                  <a:ea typeface="Telegraf Bold"/>
                  <a:cs typeface="Telegraf Bold"/>
                  <a:sym typeface="Telegraf Bold"/>
                </a:rPr>
                <a:t>Methodology</a:t>
              </a:r>
            </a:p>
          </p:txBody>
        </p:sp>
        <p:sp>
          <p:nvSpPr>
            <p:cNvPr name="TextBox 4" id="4"/>
            <p:cNvSpPr txBox="true"/>
            <p:nvPr/>
          </p:nvSpPr>
          <p:spPr>
            <a:xfrm rot="0">
              <a:off x="0" y="1760009"/>
              <a:ext cx="16852900" cy="647912"/>
            </a:xfrm>
            <a:prstGeom prst="rect">
              <a:avLst/>
            </a:prstGeom>
          </p:spPr>
          <p:txBody>
            <a:bodyPr anchor="t" rtlCol="false" tIns="0" lIns="0" bIns="0" rIns="0">
              <a:spAutoFit/>
            </a:bodyPr>
            <a:lstStyle/>
            <a:p>
              <a:pPr algn="l" marL="0" indent="0" lvl="0">
                <a:lnSpc>
                  <a:spcPts val="3519"/>
                </a:lnSpc>
              </a:pPr>
              <a:r>
                <a:rPr lang="en-US" b="true" sz="3199" spc="-31">
                  <a:solidFill>
                    <a:srgbClr val="2C3E50"/>
                  </a:solidFill>
                  <a:latin typeface="Telegraf Bold"/>
                  <a:ea typeface="Telegraf Bold"/>
                  <a:cs typeface="Telegraf Bold"/>
                  <a:sym typeface="Telegraf Bold"/>
                </a:rPr>
                <a:t>URL-Based Features</a:t>
              </a:r>
            </a:p>
          </p:txBody>
        </p:sp>
      </p:grpSp>
      <p:grpSp>
        <p:nvGrpSpPr>
          <p:cNvPr name="Group 5" id="5"/>
          <p:cNvGrpSpPr/>
          <p:nvPr/>
        </p:nvGrpSpPr>
        <p:grpSpPr>
          <a:xfrm rot="0">
            <a:off x="15049500" y="0"/>
            <a:ext cx="3238500" cy="10287000"/>
            <a:chOff x="0" y="0"/>
            <a:chExt cx="852938" cy="2709333"/>
          </a:xfrm>
        </p:grpSpPr>
        <p:sp>
          <p:nvSpPr>
            <p:cNvPr name="Freeform 6" id="6"/>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18BC9C"/>
            </a:solidFill>
          </p:spPr>
        </p:sp>
        <p:sp>
          <p:nvSpPr>
            <p:cNvPr name="TextBox 7" id="7"/>
            <p:cNvSpPr txBox="true"/>
            <p:nvPr/>
          </p:nvSpPr>
          <p:spPr>
            <a:xfrm>
              <a:off x="0" y="-76200"/>
              <a:ext cx="852938" cy="2785533"/>
            </a:xfrm>
            <a:prstGeom prst="rect">
              <a:avLst/>
            </a:prstGeom>
          </p:spPr>
          <p:txBody>
            <a:bodyPr anchor="ctr" rtlCol="false" tIns="50800" lIns="50800" bIns="50800" rIns="50800"/>
            <a:lstStyle/>
            <a:p>
              <a:pPr algn="ctr" marL="0" indent="0" lvl="0">
                <a:lnSpc>
                  <a:spcPts val="2800"/>
                </a:lnSpc>
              </a:pPr>
            </a:p>
          </p:txBody>
        </p:sp>
      </p:grpSp>
      <p:sp>
        <p:nvSpPr>
          <p:cNvPr name="AutoShape 8" id="8"/>
          <p:cNvSpPr/>
          <p:nvPr/>
        </p:nvSpPr>
        <p:spPr>
          <a:xfrm>
            <a:off x="657225" y="9689274"/>
            <a:ext cx="12344556" cy="0"/>
          </a:xfrm>
          <a:prstGeom prst="line">
            <a:avLst/>
          </a:prstGeom>
          <a:ln cap="flat" w="9525">
            <a:solidFill>
              <a:srgbClr val="2C3E50"/>
            </a:solidFill>
            <a:prstDash val="solid"/>
            <a:headEnd type="none" len="sm" w="sm"/>
            <a:tailEnd type="none" len="sm" w="sm"/>
          </a:ln>
        </p:spPr>
      </p:sp>
      <p:sp>
        <p:nvSpPr>
          <p:cNvPr name="TextBox 9" id="9"/>
          <p:cNvSpPr txBox="true"/>
          <p:nvPr/>
        </p:nvSpPr>
        <p:spPr>
          <a:xfrm rot="0">
            <a:off x="657225" y="2159589"/>
            <a:ext cx="12344556" cy="1236981"/>
          </a:xfrm>
          <a:prstGeom prst="rect">
            <a:avLst/>
          </a:prstGeom>
        </p:spPr>
        <p:txBody>
          <a:bodyPr anchor="t" rtlCol="false" tIns="0" lIns="0" bIns="0" rIns="0">
            <a:spAutoFit/>
          </a:bodyPr>
          <a:lstStyle/>
          <a:p>
            <a:pPr algn="just">
              <a:lnSpc>
                <a:spcPts val="3219"/>
              </a:lnSpc>
              <a:spcBef>
                <a:spcPct val="0"/>
              </a:spcBef>
            </a:pPr>
            <a:r>
              <a:rPr lang="en-US" sz="2299" spc="-22">
                <a:solidFill>
                  <a:srgbClr val="2C3E50"/>
                </a:solidFill>
                <a:latin typeface="Arial MT Pro"/>
                <a:ea typeface="Arial MT Pro"/>
                <a:cs typeface="Arial MT Pro"/>
                <a:sym typeface="Arial MT Pro"/>
              </a:rPr>
              <a:t>This phase focused on extracting features solely from the URL string. The data was processed to generate a total of 221 features for each URL.</a:t>
            </a:r>
          </a:p>
          <a:p>
            <a:pPr algn="just">
              <a:lnSpc>
                <a:spcPts val="3219"/>
              </a:lnSpc>
              <a:spcBef>
                <a:spcPct val="0"/>
              </a:spcBef>
            </a:pPr>
          </a:p>
        </p:txBody>
      </p:sp>
      <p:sp>
        <p:nvSpPr>
          <p:cNvPr name="TextBox 10" id="10"/>
          <p:cNvSpPr txBox="true"/>
          <p:nvPr/>
        </p:nvSpPr>
        <p:spPr>
          <a:xfrm rot="0">
            <a:off x="666750" y="3135585"/>
            <a:ext cx="3446621" cy="464820"/>
          </a:xfrm>
          <a:prstGeom prst="rect">
            <a:avLst/>
          </a:prstGeom>
        </p:spPr>
        <p:txBody>
          <a:bodyPr anchor="t" rtlCol="false" tIns="0" lIns="0" bIns="0" rIns="0">
            <a:spAutoFit/>
          </a:bodyPr>
          <a:lstStyle/>
          <a:p>
            <a:pPr algn="ctr">
              <a:lnSpc>
                <a:spcPts val="3780"/>
              </a:lnSpc>
            </a:pPr>
            <a:r>
              <a:rPr lang="en-US" sz="2700" b="true">
                <a:solidFill>
                  <a:srgbClr val="2C3E50"/>
                </a:solidFill>
                <a:latin typeface="Canva Sans Bold"/>
                <a:ea typeface="Canva Sans Bold"/>
                <a:cs typeface="Canva Sans Bold"/>
                <a:sym typeface="Canva Sans Bold"/>
              </a:rPr>
              <a:t>a. Heuristic Features</a:t>
            </a:r>
          </a:p>
        </p:txBody>
      </p:sp>
      <p:sp>
        <p:nvSpPr>
          <p:cNvPr name="TextBox 11" id="11"/>
          <p:cNvSpPr txBox="true"/>
          <p:nvPr/>
        </p:nvSpPr>
        <p:spPr>
          <a:xfrm rot="0">
            <a:off x="657225" y="3571830"/>
            <a:ext cx="12502126" cy="3237230"/>
          </a:xfrm>
          <a:prstGeom prst="rect">
            <a:avLst/>
          </a:prstGeom>
        </p:spPr>
        <p:txBody>
          <a:bodyPr anchor="t" rtlCol="false" tIns="0" lIns="0" bIns="0" rIns="0">
            <a:spAutoFit/>
          </a:bodyPr>
          <a:lstStyle/>
          <a:p>
            <a:pPr algn="just">
              <a:lnSpc>
                <a:spcPts val="3220"/>
              </a:lnSpc>
            </a:pPr>
            <a:r>
              <a:rPr lang="en-US" sz="2300" spc="-23">
                <a:solidFill>
                  <a:srgbClr val="2C3E50"/>
                </a:solidFill>
                <a:latin typeface="Arial MT Pro"/>
                <a:ea typeface="Arial MT Pro"/>
                <a:cs typeface="Arial MT Pro"/>
                <a:sym typeface="Arial MT Pro"/>
              </a:rPr>
              <a:t>These are human-readable, rule-based features designed to capture common phishing "tricks”. The 21 features included:</a:t>
            </a:r>
          </a:p>
          <a:p>
            <a:pPr algn="just">
              <a:lnSpc>
                <a:spcPts val="3220"/>
              </a:lnSpc>
            </a:pPr>
            <a:r>
              <a:rPr lang="en-US" b="true" sz="2300" i="true" spc="-23">
                <a:solidFill>
                  <a:srgbClr val="2C3E50"/>
                </a:solidFill>
                <a:latin typeface="Arial MT Pro Bold Italics"/>
                <a:ea typeface="Arial MT Pro Bold Italics"/>
                <a:cs typeface="Arial MT Pro Bold Italics"/>
                <a:sym typeface="Arial MT Pro Bold Italics"/>
              </a:rPr>
              <a:t>Length-Based</a:t>
            </a:r>
            <a:r>
              <a:rPr lang="en-US" sz="2300" spc="-23">
                <a:solidFill>
                  <a:srgbClr val="2C3E50"/>
                </a:solidFill>
                <a:latin typeface="Arial MT Pro"/>
                <a:ea typeface="Arial MT Pro"/>
                <a:cs typeface="Arial MT Pro"/>
                <a:sym typeface="Arial MT Pro"/>
              </a:rPr>
              <a:t>: url_length, hostname_length, path_length, tld_length.</a:t>
            </a:r>
          </a:p>
          <a:p>
            <a:pPr algn="just">
              <a:lnSpc>
                <a:spcPts val="3220"/>
              </a:lnSpc>
            </a:pPr>
            <a:r>
              <a:rPr lang="en-US" b="true" sz="2300" i="true" spc="-23">
                <a:solidFill>
                  <a:srgbClr val="2C3E50"/>
                </a:solidFill>
                <a:latin typeface="Arial MT Pro Bold Italics"/>
                <a:ea typeface="Arial MT Pro Bold Italics"/>
                <a:cs typeface="Arial MT Pro Bold Italics"/>
                <a:sym typeface="Arial MT Pro Bold Italics"/>
              </a:rPr>
              <a:t>Character-Count</a:t>
            </a:r>
            <a:r>
              <a:rPr lang="en-US" sz="2300" spc="-23">
                <a:solidFill>
                  <a:srgbClr val="2C3E50"/>
                </a:solidFill>
                <a:latin typeface="Arial MT Pro"/>
                <a:ea typeface="Arial MT Pro"/>
                <a:cs typeface="Arial MT Pro"/>
                <a:sym typeface="Arial MT Pro"/>
              </a:rPr>
              <a:t>: count_hyphen, count_at, count_dot, count_digits, etc.</a:t>
            </a:r>
          </a:p>
          <a:p>
            <a:pPr algn="just">
              <a:lnSpc>
                <a:spcPts val="3220"/>
              </a:lnSpc>
            </a:pPr>
            <a:r>
              <a:rPr lang="en-US" b="true" sz="2300" i="true" spc="-23">
                <a:solidFill>
                  <a:srgbClr val="2C3E50"/>
                </a:solidFill>
                <a:latin typeface="Arial MT Pro Bold Italics"/>
                <a:ea typeface="Arial MT Pro Bold Italics"/>
                <a:cs typeface="Arial MT Pro Bold Italics"/>
                <a:sym typeface="Arial MT Pro Bold Italics"/>
              </a:rPr>
              <a:t>Boolean Flags</a:t>
            </a:r>
            <a:r>
              <a:rPr lang="en-US" sz="2300" spc="-23">
                <a:solidFill>
                  <a:srgbClr val="2C3E50"/>
                </a:solidFill>
                <a:latin typeface="Arial MT Pro"/>
                <a:ea typeface="Arial MT Pro"/>
                <a:cs typeface="Arial MT Pro"/>
                <a:sym typeface="Arial MT Pro"/>
              </a:rPr>
              <a:t>: is_ip_address, is_https, is_shortened.</a:t>
            </a:r>
          </a:p>
          <a:p>
            <a:pPr algn="just">
              <a:lnSpc>
                <a:spcPts val="3220"/>
              </a:lnSpc>
            </a:pPr>
            <a:r>
              <a:rPr lang="en-US" b="true" sz="2300" i="true" spc="-23">
                <a:solidFill>
                  <a:srgbClr val="2C3E50"/>
                </a:solidFill>
                <a:latin typeface="Arial MT Pro Bold Italics"/>
                <a:ea typeface="Arial MT Pro Bold Italics"/>
                <a:cs typeface="Arial MT Pro Bold Italics"/>
                <a:sym typeface="Arial MT Pro Bold Italics"/>
              </a:rPr>
              <a:t>Keyword-Based</a:t>
            </a:r>
            <a:r>
              <a:rPr lang="en-US" sz="2300" spc="-23">
                <a:solidFill>
                  <a:srgbClr val="2C3E50"/>
                </a:solidFill>
                <a:latin typeface="Arial MT Pro"/>
                <a:ea typeface="Arial MT Pro"/>
                <a:cs typeface="Arial MT Pro"/>
                <a:sym typeface="Arial MT Pro"/>
              </a:rPr>
              <a:t>: has_suspicious_keyword (e.g., "login", "secure", "paypal").</a:t>
            </a:r>
          </a:p>
          <a:p>
            <a:pPr algn="just">
              <a:lnSpc>
                <a:spcPts val="3220"/>
              </a:lnSpc>
              <a:spcBef>
                <a:spcPct val="0"/>
              </a:spcBef>
            </a:pPr>
            <a:r>
              <a:rPr lang="en-US" b="true" sz="2300" i="true" spc="-23">
                <a:solidFill>
                  <a:srgbClr val="2C3E50"/>
                </a:solidFill>
                <a:latin typeface="Arial MT Pro Bold Italics"/>
                <a:ea typeface="Arial MT Pro Bold Italics"/>
                <a:cs typeface="Arial MT Pro Bold Italics"/>
                <a:sym typeface="Arial MT Pro Bold Italics"/>
              </a:rPr>
              <a:t>Obfuscation-Based</a:t>
            </a:r>
            <a:r>
              <a:rPr lang="en-US" sz="2300" spc="-23">
                <a:solidFill>
                  <a:srgbClr val="2C3E50"/>
                </a:solidFill>
                <a:latin typeface="Arial MT Pro"/>
                <a:ea typeface="Arial MT Pro"/>
                <a:cs typeface="Arial MT Pro"/>
                <a:sym typeface="Arial MT Pro"/>
              </a:rPr>
              <a:t>: tld_in_subdomain, abnormal_subdomain.</a:t>
            </a:r>
          </a:p>
          <a:p>
            <a:pPr algn="just">
              <a:lnSpc>
                <a:spcPts val="3220"/>
              </a:lnSpc>
              <a:spcBef>
                <a:spcPct val="0"/>
              </a:spcBef>
            </a:pPr>
          </a:p>
        </p:txBody>
      </p:sp>
      <p:sp>
        <p:nvSpPr>
          <p:cNvPr name="TextBox 12" id="12"/>
          <p:cNvSpPr txBox="true"/>
          <p:nvPr/>
        </p:nvSpPr>
        <p:spPr>
          <a:xfrm rot="0">
            <a:off x="666750" y="6548075"/>
            <a:ext cx="5649290" cy="464820"/>
          </a:xfrm>
          <a:prstGeom prst="rect">
            <a:avLst/>
          </a:prstGeom>
        </p:spPr>
        <p:txBody>
          <a:bodyPr anchor="t" rtlCol="false" tIns="0" lIns="0" bIns="0" rIns="0">
            <a:spAutoFit/>
          </a:bodyPr>
          <a:lstStyle/>
          <a:p>
            <a:pPr algn="l">
              <a:lnSpc>
                <a:spcPts val="3780"/>
              </a:lnSpc>
            </a:pPr>
            <a:r>
              <a:rPr lang="en-US" sz="2700" b="true">
                <a:solidFill>
                  <a:srgbClr val="2C3E50"/>
                </a:solidFill>
                <a:latin typeface="Canva Sans Bold"/>
                <a:ea typeface="Canva Sans Bold"/>
                <a:cs typeface="Canva Sans Bold"/>
                <a:sym typeface="Canva Sans Bold"/>
              </a:rPr>
              <a:t>b. Character-Sequence Features</a:t>
            </a:r>
          </a:p>
        </p:txBody>
      </p:sp>
      <p:sp>
        <p:nvSpPr>
          <p:cNvPr name="TextBox 13" id="13"/>
          <p:cNvSpPr txBox="true"/>
          <p:nvPr/>
        </p:nvSpPr>
        <p:spPr>
          <a:xfrm rot="0">
            <a:off x="666750" y="6980682"/>
            <a:ext cx="12006905" cy="2437130"/>
          </a:xfrm>
          <a:prstGeom prst="rect">
            <a:avLst/>
          </a:prstGeom>
        </p:spPr>
        <p:txBody>
          <a:bodyPr anchor="t" rtlCol="false" tIns="0" lIns="0" bIns="0" rIns="0">
            <a:spAutoFit/>
          </a:bodyPr>
          <a:lstStyle/>
          <a:p>
            <a:pPr algn="just">
              <a:lnSpc>
                <a:spcPts val="3220"/>
              </a:lnSpc>
            </a:pPr>
            <a:r>
              <a:rPr lang="en-US" sz="2300" spc="-23">
                <a:solidFill>
                  <a:srgbClr val="2C3E50"/>
                </a:solidFill>
                <a:latin typeface="Arial MT Pro"/>
                <a:ea typeface="Arial MT Pro"/>
                <a:cs typeface="Arial MT Pro"/>
                <a:sym typeface="Arial MT Pro"/>
              </a:rPr>
              <a:t>This feature set was designed for deep learning models.</a:t>
            </a:r>
          </a:p>
          <a:p>
            <a:pPr algn="just">
              <a:lnSpc>
                <a:spcPts val="3220"/>
              </a:lnSpc>
            </a:pPr>
            <a:r>
              <a:rPr lang="en-US" sz="2300" spc="-23">
                <a:solidFill>
                  <a:srgbClr val="2C3E50"/>
                </a:solidFill>
                <a:latin typeface="Arial MT Pro"/>
                <a:ea typeface="Arial MT Pro"/>
                <a:cs typeface="Arial MT Pro"/>
                <a:sym typeface="Arial MT Pro"/>
              </a:rPr>
              <a:t>A fix</a:t>
            </a:r>
            <a:r>
              <a:rPr lang="en-US" sz="2300" spc="-23">
                <a:solidFill>
                  <a:srgbClr val="2C3E50"/>
                </a:solidFill>
                <a:latin typeface="Arial MT Pro"/>
                <a:ea typeface="Arial MT Pro"/>
                <a:cs typeface="Arial MT Pro"/>
                <a:sym typeface="Arial MT Pro"/>
              </a:rPr>
              <a:t>ed</a:t>
            </a:r>
            <a:r>
              <a:rPr lang="en-US" sz="2300" spc="-23">
                <a:solidFill>
                  <a:srgbClr val="2C3E50"/>
                </a:solidFill>
                <a:latin typeface="Arial MT Pro"/>
                <a:ea typeface="Arial MT Pro"/>
                <a:cs typeface="Arial MT Pro"/>
                <a:sym typeface="Arial MT Pro"/>
              </a:rPr>
              <a:t> vocabulary of 78 characters (a-z, A-Z, 0-9, and symbols) was defined.</a:t>
            </a:r>
          </a:p>
          <a:p>
            <a:pPr algn="just">
              <a:lnSpc>
                <a:spcPts val="3220"/>
              </a:lnSpc>
            </a:pPr>
            <a:r>
              <a:rPr lang="en-US" sz="2300" spc="-23">
                <a:solidFill>
                  <a:srgbClr val="2C3E50"/>
                </a:solidFill>
                <a:latin typeface="Arial MT Pro"/>
                <a:ea typeface="Arial MT Pro"/>
                <a:cs typeface="Arial MT Pro"/>
                <a:sym typeface="Arial MT Pro"/>
              </a:rPr>
              <a:t>A Keras Tokenizer was used to map each character to a unique integer index.</a:t>
            </a:r>
          </a:p>
          <a:p>
            <a:pPr algn="just">
              <a:lnSpc>
                <a:spcPts val="3220"/>
              </a:lnSpc>
            </a:pPr>
            <a:r>
              <a:rPr lang="en-US" sz="2300" spc="-23">
                <a:solidFill>
                  <a:srgbClr val="2C3E50"/>
                </a:solidFill>
                <a:latin typeface="Arial MT Pro"/>
                <a:ea typeface="Arial MT Pro"/>
                <a:cs typeface="Arial MT Pro"/>
                <a:sym typeface="Arial MT Pro"/>
              </a:rPr>
              <a:t>Each URL string was converted into a sequence of integers.</a:t>
            </a:r>
          </a:p>
          <a:p>
            <a:pPr algn="just">
              <a:lnSpc>
                <a:spcPts val="3220"/>
              </a:lnSpc>
              <a:spcBef>
                <a:spcPct val="0"/>
              </a:spcBef>
            </a:pPr>
            <a:r>
              <a:rPr lang="en-US" sz="2300" spc="-23">
                <a:solidFill>
                  <a:srgbClr val="2C3E50"/>
                </a:solidFill>
                <a:latin typeface="Arial MT Pro"/>
                <a:ea typeface="Arial MT Pro"/>
                <a:cs typeface="Arial MT Pro"/>
                <a:sym typeface="Arial MT Pro"/>
              </a:rPr>
              <a:t>The sequences were then padded (with 0s) or truncated to a fixed length of 200, resulting in a </a:t>
            </a:r>
            <a:r>
              <a:rPr lang="en-US" b="true" sz="2300" spc="-23">
                <a:solidFill>
                  <a:srgbClr val="2C3E50"/>
                </a:solidFill>
                <a:latin typeface="Arial MT Pro Bold"/>
                <a:ea typeface="Arial MT Pro Bold"/>
                <a:cs typeface="Arial MT Pro Bold"/>
                <a:sym typeface="Arial MT Pro Bold"/>
              </a:rPr>
              <a:t>[1 x 200] vector for every URL</a:t>
            </a:r>
            <a:r>
              <a:rPr lang="en-US" sz="2300" spc="-23">
                <a:solidFill>
                  <a:srgbClr val="2C3E50"/>
                </a:solidFill>
                <a:latin typeface="Arial MT Pro"/>
                <a:ea typeface="Arial MT Pro"/>
                <a:cs typeface="Arial MT Pro"/>
                <a:sym typeface="Arial MT Pro"/>
              </a:rPr>
              <a:t>.</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666750" y="448899"/>
            <a:ext cx="12639675" cy="1805940"/>
            <a:chOff x="0" y="0"/>
            <a:chExt cx="16852900" cy="2407920"/>
          </a:xfrm>
        </p:grpSpPr>
        <p:sp>
          <p:nvSpPr>
            <p:cNvPr name="TextBox 3" id="3"/>
            <p:cNvSpPr txBox="true"/>
            <p:nvPr/>
          </p:nvSpPr>
          <p:spPr>
            <a:xfrm rot="0">
              <a:off x="0" y="-19050"/>
              <a:ext cx="16852900" cy="1432984"/>
            </a:xfrm>
            <a:prstGeom prst="rect">
              <a:avLst/>
            </a:prstGeom>
          </p:spPr>
          <p:txBody>
            <a:bodyPr anchor="t" rtlCol="false" tIns="0" lIns="0" bIns="0" rIns="0">
              <a:spAutoFit/>
            </a:bodyPr>
            <a:lstStyle/>
            <a:p>
              <a:pPr algn="l" marL="0" indent="0" lvl="0">
                <a:lnSpc>
                  <a:spcPts val="7700"/>
                </a:lnSpc>
              </a:pPr>
              <a:r>
                <a:rPr lang="en-US" b="true" sz="7000" spc="-70">
                  <a:solidFill>
                    <a:srgbClr val="2C3E50"/>
                  </a:solidFill>
                  <a:latin typeface="Telegraf Bold"/>
                  <a:ea typeface="Telegraf Bold"/>
                  <a:cs typeface="Telegraf Bold"/>
                  <a:sym typeface="Telegraf Bold"/>
                </a:rPr>
                <a:t>Methodology</a:t>
              </a:r>
            </a:p>
          </p:txBody>
        </p:sp>
        <p:sp>
          <p:nvSpPr>
            <p:cNvPr name="TextBox 4" id="4"/>
            <p:cNvSpPr txBox="true"/>
            <p:nvPr/>
          </p:nvSpPr>
          <p:spPr>
            <a:xfrm rot="0">
              <a:off x="0" y="1760009"/>
              <a:ext cx="16852900" cy="647912"/>
            </a:xfrm>
            <a:prstGeom prst="rect">
              <a:avLst/>
            </a:prstGeom>
          </p:spPr>
          <p:txBody>
            <a:bodyPr anchor="t" rtlCol="false" tIns="0" lIns="0" bIns="0" rIns="0">
              <a:spAutoFit/>
            </a:bodyPr>
            <a:lstStyle/>
            <a:p>
              <a:pPr algn="l" marL="0" indent="0" lvl="0">
                <a:lnSpc>
                  <a:spcPts val="3519"/>
                </a:lnSpc>
              </a:pPr>
              <a:r>
                <a:rPr lang="en-US" b="true" sz="3199" spc="-31">
                  <a:solidFill>
                    <a:srgbClr val="2C3E50"/>
                  </a:solidFill>
                  <a:latin typeface="Telegraf Bold"/>
                  <a:ea typeface="Telegraf Bold"/>
                  <a:cs typeface="Telegraf Bold"/>
                  <a:sym typeface="Telegraf Bold"/>
                </a:rPr>
                <a:t>Hyperlink-Based Features</a:t>
              </a:r>
            </a:p>
          </p:txBody>
        </p:sp>
      </p:grpSp>
      <p:grpSp>
        <p:nvGrpSpPr>
          <p:cNvPr name="Group 5" id="5"/>
          <p:cNvGrpSpPr/>
          <p:nvPr/>
        </p:nvGrpSpPr>
        <p:grpSpPr>
          <a:xfrm rot="0">
            <a:off x="15049500" y="0"/>
            <a:ext cx="3238500" cy="10287000"/>
            <a:chOff x="0" y="0"/>
            <a:chExt cx="852938" cy="2709333"/>
          </a:xfrm>
        </p:grpSpPr>
        <p:sp>
          <p:nvSpPr>
            <p:cNvPr name="Freeform 6" id="6"/>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18BC9C"/>
            </a:solidFill>
          </p:spPr>
        </p:sp>
        <p:sp>
          <p:nvSpPr>
            <p:cNvPr name="TextBox 7" id="7"/>
            <p:cNvSpPr txBox="true"/>
            <p:nvPr/>
          </p:nvSpPr>
          <p:spPr>
            <a:xfrm>
              <a:off x="0" y="-76200"/>
              <a:ext cx="852938" cy="2785533"/>
            </a:xfrm>
            <a:prstGeom prst="rect">
              <a:avLst/>
            </a:prstGeom>
          </p:spPr>
          <p:txBody>
            <a:bodyPr anchor="ctr" rtlCol="false" tIns="50800" lIns="50800" bIns="50800" rIns="50800"/>
            <a:lstStyle/>
            <a:p>
              <a:pPr algn="ctr" marL="0" indent="0" lvl="0">
                <a:lnSpc>
                  <a:spcPts val="2800"/>
                </a:lnSpc>
              </a:pPr>
            </a:p>
          </p:txBody>
        </p:sp>
      </p:grpSp>
      <p:sp>
        <p:nvSpPr>
          <p:cNvPr name="AutoShape 8" id="8"/>
          <p:cNvSpPr/>
          <p:nvPr/>
        </p:nvSpPr>
        <p:spPr>
          <a:xfrm>
            <a:off x="666750" y="9620250"/>
            <a:ext cx="12006905" cy="0"/>
          </a:xfrm>
          <a:prstGeom prst="line">
            <a:avLst/>
          </a:prstGeom>
          <a:ln cap="flat" w="9525">
            <a:solidFill>
              <a:srgbClr val="2C3E50"/>
            </a:solidFill>
            <a:prstDash val="solid"/>
            <a:headEnd type="none" len="sm" w="sm"/>
            <a:tailEnd type="none" len="sm" w="sm"/>
          </a:ln>
        </p:spPr>
      </p:sp>
      <p:sp>
        <p:nvSpPr>
          <p:cNvPr name="TextBox 9" id="9"/>
          <p:cNvSpPr txBox="true"/>
          <p:nvPr/>
        </p:nvSpPr>
        <p:spPr>
          <a:xfrm rot="0">
            <a:off x="666750" y="2159589"/>
            <a:ext cx="12006905" cy="836931"/>
          </a:xfrm>
          <a:prstGeom prst="rect">
            <a:avLst/>
          </a:prstGeom>
        </p:spPr>
        <p:txBody>
          <a:bodyPr anchor="t" rtlCol="false" tIns="0" lIns="0" bIns="0" rIns="0">
            <a:spAutoFit/>
          </a:bodyPr>
          <a:lstStyle/>
          <a:p>
            <a:pPr algn="just">
              <a:lnSpc>
                <a:spcPts val="3219"/>
              </a:lnSpc>
              <a:spcBef>
                <a:spcPct val="0"/>
              </a:spcBef>
            </a:pPr>
            <a:r>
              <a:rPr lang="en-US" sz="2299" spc="-22">
                <a:solidFill>
                  <a:srgbClr val="2C3E50"/>
                </a:solidFill>
                <a:latin typeface="Arial MT Pro"/>
                <a:ea typeface="Arial MT Pro"/>
                <a:cs typeface="Arial MT Pro"/>
                <a:sym typeface="Arial MT Pro"/>
              </a:rPr>
              <a:t>This phase involved parsing the HTML of a webpage to extract features related to its outgoing links and resource requests.</a:t>
            </a:r>
          </a:p>
        </p:txBody>
      </p:sp>
      <p:sp>
        <p:nvSpPr>
          <p:cNvPr name="TextBox 10" id="10"/>
          <p:cNvSpPr txBox="true"/>
          <p:nvPr/>
        </p:nvSpPr>
        <p:spPr>
          <a:xfrm rot="0">
            <a:off x="666750" y="3107667"/>
            <a:ext cx="3475911" cy="464820"/>
          </a:xfrm>
          <a:prstGeom prst="rect">
            <a:avLst/>
          </a:prstGeom>
        </p:spPr>
        <p:txBody>
          <a:bodyPr anchor="t" rtlCol="false" tIns="0" lIns="0" bIns="0" rIns="0">
            <a:spAutoFit/>
          </a:bodyPr>
          <a:lstStyle/>
          <a:p>
            <a:pPr algn="ctr">
              <a:lnSpc>
                <a:spcPts val="3780"/>
              </a:lnSpc>
            </a:pPr>
            <a:r>
              <a:rPr lang="en-US" sz="2700" b="true">
                <a:solidFill>
                  <a:srgbClr val="2C3E50"/>
                </a:solidFill>
                <a:latin typeface="Canva Sans Bold"/>
                <a:ea typeface="Canva Sans Bold"/>
                <a:cs typeface="Canva Sans Bold"/>
                <a:sym typeface="Canva Sans Bold"/>
              </a:rPr>
              <a:t>a. Feature Extraction</a:t>
            </a:r>
          </a:p>
        </p:txBody>
      </p:sp>
      <p:sp>
        <p:nvSpPr>
          <p:cNvPr name="TextBox 11" id="11"/>
          <p:cNvSpPr txBox="true"/>
          <p:nvPr/>
        </p:nvSpPr>
        <p:spPr>
          <a:xfrm rot="0">
            <a:off x="666750" y="3572487"/>
            <a:ext cx="12006905" cy="1236981"/>
          </a:xfrm>
          <a:prstGeom prst="rect">
            <a:avLst/>
          </a:prstGeom>
        </p:spPr>
        <p:txBody>
          <a:bodyPr anchor="t" rtlCol="false" tIns="0" lIns="0" bIns="0" rIns="0">
            <a:spAutoFit/>
          </a:bodyPr>
          <a:lstStyle/>
          <a:p>
            <a:pPr algn="just">
              <a:lnSpc>
                <a:spcPts val="3219"/>
              </a:lnSpc>
            </a:pPr>
            <a:r>
              <a:rPr lang="en-US" sz="2299" spc="-22">
                <a:solidFill>
                  <a:srgbClr val="2C3E50"/>
                </a:solidFill>
                <a:latin typeface="Arial MT Pro"/>
                <a:ea typeface="Arial MT Pro"/>
                <a:cs typeface="Arial MT Pro"/>
                <a:sym typeface="Arial MT Pro"/>
              </a:rPr>
              <a:t>The raw features extracted included:</a:t>
            </a:r>
          </a:p>
          <a:p>
            <a:pPr algn="just">
              <a:lnSpc>
                <a:spcPts val="3219"/>
              </a:lnSpc>
              <a:spcBef>
                <a:spcPct val="0"/>
              </a:spcBef>
            </a:pPr>
            <a:r>
              <a:rPr lang="en-US" sz="2299" spc="-22">
                <a:solidFill>
                  <a:srgbClr val="2C3E50"/>
                </a:solidFill>
                <a:latin typeface="Arial MT Pro"/>
                <a:ea typeface="Arial MT Pro"/>
                <a:cs typeface="Arial MT Pro"/>
                <a:sym typeface="Arial MT Pro"/>
              </a:rPr>
              <a:t>total_links, internal_links, external_links, null_links, internal_css, external_css, internal_errors, external_errors, internal_favicon, external_favicon</a:t>
            </a:r>
          </a:p>
        </p:txBody>
      </p:sp>
      <p:sp>
        <p:nvSpPr>
          <p:cNvPr name="TextBox 12" id="12"/>
          <p:cNvSpPr txBox="true"/>
          <p:nvPr/>
        </p:nvSpPr>
        <p:spPr>
          <a:xfrm rot="0">
            <a:off x="666750" y="5086350"/>
            <a:ext cx="6670203" cy="464820"/>
          </a:xfrm>
          <a:prstGeom prst="rect">
            <a:avLst/>
          </a:prstGeom>
        </p:spPr>
        <p:txBody>
          <a:bodyPr anchor="t" rtlCol="false" tIns="0" lIns="0" bIns="0" rIns="0">
            <a:spAutoFit/>
          </a:bodyPr>
          <a:lstStyle/>
          <a:p>
            <a:pPr algn="l">
              <a:lnSpc>
                <a:spcPts val="3780"/>
              </a:lnSpc>
            </a:pPr>
            <a:r>
              <a:rPr lang="en-US" sz="2700" b="true">
                <a:solidFill>
                  <a:srgbClr val="2C3E50"/>
                </a:solidFill>
                <a:latin typeface="Canva Sans Bold"/>
                <a:ea typeface="Canva Sans Bold"/>
                <a:cs typeface="Canva Sans Bold"/>
                <a:sym typeface="Canva Sans Bold"/>
              </a:rPr>
              <a:t> b. Preprocessing &amp; Feature Engineering</a:t>
            </a:r>
          </a:p>
        </p:txBody>
      </p:sp>
      <p:sp>
        <p:nvSpPr>
          <p:cNvPr name="TextBox 13" id="13"/>
          <p:cNvSpPr txBox="true"/>
          <p:nvPr/>
        </p:nvSpPr>
        <p:spPr>
          <a:xfrm rot="0">
            <a:off x="666750" y="5553539"/>
            <a:ext cx="12006905" cy="2437131"/>
          </a:xfrm>
          <a:prstGeom prst="rect">
            <a:avLst/>
          </a:prstGeom>
        </p:spPr>
        <p:txBody>
          <a:bodyPr anchor="t" rtlCol="false" tIns="0" lIns="0" bIns="0" rIns="0">
            <a:spAutoFit/>
          </a:bodyPr>
          <a:lstStyle/>
          <a:p>
            <a:pPr algn="just">
              <a:lnSpc>
                <a:spcPts val="3219"/>
              </a:lnSpc>
            </a:pPr>
            <a:r>
              <a:rPr lang="en-US" sz="2299" spc="-22">
                <a:solidFill>
                  <a:srgbClr val="2C3E50"/>
                </a:solidFill>
                <a:latin typeface="Arial MT Pro"/>
                <a:ea typeface="Arial MT Pro"/>
                <a:cs typeface="Arial MT Pro"/>
                <a:sym typeface="Arial MT Pro"/>
              </a:rPr>
              <a:t>Two experiments were conducted:</a:t>
            </a:r>
          </a:p>
          <a:p>
            <a:pPr algn="just" marL="496564" indent="-248282" lvl="1">
              <a:lnSpc>
                <a:spcPts val="3219"/>
              </a:lnSpc>
              <a:buAutoNum type="arabicPeriod" startAt="1"/>
            </a:pPr>
            <a:r>
              <a:rPr lang="en-US" b="true" sz="2299" spc="-22">
                <a:solidFill>
                  <a:srgbClr val="2C3E50"/>
                </a:solidFill>
                <a:latin typeface="Arial MT Pro Bold"/>
                <a:ea typeface="Arial MT Pro Bold"/>
                <a:cs typeface="Arial MT Pro Bold"/>
                <a:sym typeface="Arial MT Pro Bold"/>
              </a:rPr>
              <a:t>Raw Counts</a:t>
            </a:r>
            <a:r>
              <a:rPr lang="en-US" sz="2299" spc="-22">
                <a:solidFill>
                  <a:srgbClr val="2C3E50"/>
                </a:solidFill>
                <a:latin typeface="Arial MT Pro"/>
                <a:ea typeface="Arial MT Pro"/>
                <a:cs typeface="Arial MT Pro"/>
                <a:sym typeface="Arial MT Pro"/>
              </a:rPr>
              <a:t>: Using the raw counts (e.g., 10 internal, 50 external).</a:t>
            </a:r>
          </a:p>
          <a:p>
            <a:pPr algn="just" marL="496564" indent="-248282" lvl="1">
              <a:lnSpc>
                <a:spcPts val="3219"/>
              </a:lnSpc>
              <a:buAutoNum type="arabicPeriod" startAt="1"/>
            </a:pPr>
            <a:r>
              <a:rPr lang="en-US" b="true" sz="2299" spc="-22">
                <a:solidFill>
                  <a:srgbClr val="2C3E50"/>
                </a:solidFill>
                <a:latin typeface="Arial MT Pro Bold"/>
                <a:ea typeface="Arial MT Pro Bold"/>
                <a:cs typeface="Arial MT Pro Bold"/>
                <a:sym typeface="Arial MT Pro Bold"/>
              </a:rPr>
              <a:t>Percentage-Based</a:t>
            </a:r>
            <a:r>
              <a:rPr lang="en-US" sz="2299" spc="-22">
                <a:solidFill>
                  <a:srgbClr val="2C3E50"/>
                </a:solidFill>
                <a:latin typeface="Arial MT Pro"/>
                <a:ea typeface="Arial MT Pro"/>
                <a:cs typeface="Arial MT Pro"/>
                <a:sym typeface="Arial MT Pro"/>
              </a:rPr>
              <a:t>: New features like pct_internal_links (internal_links / (internal_links + external_links)) were engineered to provide context and prevent the model from being skewed by large, legitimate sites.</a:t>
            </a:r>
          </a:p>
          <a:p>
            <a:pPr algn="just">
              <a:lnSpc>
                <a:spcPts val="3219"/>
              </a:lnSpc>
              <a:spcBef>
                <a:spcPct val="0"/>
              </a:spcBef>
            </a:pPr>
            <a:r>
              <a:rPr lang="en-US" sz="2299" spc="-22">
                <a:solidFill>
                  <a:srgbClr val="2C3E50"/>
                </a:solidFill>
                <a:latin typeface="Arial MT Pro"/>
                <a:ea typeface="Arial MT Pro"/>
                <a:cs typeface="Arial MT Pro"/>
                <a:sym typeface="Arial MT Pro"/>
              </a:rPr>
              <a:t>Both experiments resulted into similar results.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15049500" y="0"/>
            <a:ext cx="3238500" cy="10287000"/>
            <a:chOff x="0" y="0"/>
            <a:chExt cx="852938" cy="2709333"/>
          </a:xfrm>
        </p:grpSpPr>
        <p:sp>
          <p:nvSpPr>
            <p:cNvPr name="Freeform 3" id="3"/>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18BC9C"/>
            </a:solidFill>
          </p:spPr>
        </p:sp>
        <p:sp>
          <p:nvSpPr>
            <p:cNvPr name="TextBox 4" id="4"/>
            <p:cNvSpPr txBox="true"/>
            <p:nvPr/>
          </p:nvSpPr>
          <p:spPr>
            <a:xfrm>
              <a:off x="0" y="-76200"/>
              <a:ext cx="852938" cy="2785533"/>
            </a:xfrm>
            <a:prstGeom prst="rect">
              <a:avLst/>
            </a:prstGeom>
          </p:spPr>
          <p:txBody>
            <a:bodyPr anchor="ctr" rtlCol="false" tIns="50800" lIns="50800" bIns="50800" rIns="50800"/>
            <a:lstStyle/>
            <a:p>
              <a:pPr algn="ctr" marL="0" indent="0" lvl="0">
                <a:lnSpc>
                  <a:spcPts val="2800"/>
                </a:lnSpc>
              </a:pPr>
            </a:p>
          </p:txBody>
        </p:sp>
      </p:grpSp>
      <p:sp>
        <p:nvSpPr>
          <p:cNvPr name="AutoShape 5" id="5"/>
          <p:cNvSpPr/>
          <p:nvPr/>
        </p:nvSpPr>
        <p:spPr>
          <a:xfrm>
            <a:off x="666750" y="9620250"/>
            <a:ext cx="12006905" cy="0"/>
          </a:xfrm>
          <a:prstGeom prst="line">
            <a:avLst/>
          </a:prstGeom>
          <a:ln cap="flat" w="9525">
            <a:solidFill>
              <a:srgbClr val="2C3E50"/>
            </a:solidFill>
            <a:prstDash val="solid"/>
            <a:headEnd type="none" len="sm" w="sm"/>
            <a:tailEnd type="none" len="sm" w="sm"/>
          </a:ln>
        </p:spPr>
      </p:sp>
      <p:sp>
        <p:nvSpPr>
          <p:cNvPr name="Freeform 6" id="6"/>
          <p:cNvSpPr/>
          <p:nvPr/>
        </p:nvSpPr>
        <p:spPr>
          <a:xfrm flipH="false" flipV="false" rot="0">
            <a:off x="666750" y="5143500"/>
            <a:ext cx="11176533" cy="4273812"/>
          </a:xfrm>
          <a:custGeom>
            <a:avLst/>
            <a:gdLst/>
            <a:ahLst/>
            <a:cxnLst/>
            <a:rect r="r" b="b" t="t" l="l"/>
            <a:pathLst>
              <a:path h="4273812" w="11176533">
                <a:moveTo>
                  <a:pt x="0" y="0"/>
                </a:moveTo>
                <a:lnTo>
                  <a:pt x="11176533" y="0"/>
                </a:lnTo>
                <a:lnTo>
                  <a:pt x="11176533" y="4273812"/>
                </a:lnTo>
                <a:lnTo>
                  <a:pt x="0" y="4273812"/>
                </a:lnTo>
                <a:lnTo>
                  <a:pt x="0" y="0"/>
                </a:lnTo>
                <a:close/>
              </a:path>
            </a:pathLst>
          </a:custGeom>
          <a:blipFill>
            <a:blip r:embed="rId2"/>
            <a:stretch>
              <a:fillRect l="0" t="0" r="0" b="0"/>
            </a:stretch>
          </a:blipFill>
        </p:spPr>
      </p:sp>
      <p:sp>
        <p:nvSpPr>
          <p:cNvPr name="TextBox 7" id="7"/>
          <p:cNvSpPr txBox="true"/>
          <p:nvPr/>
        </p:nvSpPr>
        <p:spPr>
          <a:xfrm rot="0">
            <a:off x="666750" y="490855"/>
            <a:ext cx="10789540" cy="537845"/>
          </a:xfrm>
          <a:prstGeom prst="rect">
            <a:avLst/>
          </a:prstGeom>
        </p:spPr>
        <p:txBody>
          <a:bodyPr anchor="t" rtlCol="false" tIns="0" lIns="0" bIns="0" rIns="0">
            <a:spAutoFit/>
          </a:bodyPr>
          <a:lstStyle/>
          <a:p>
            <a:pPr algn="l">
              <a:lnSpc>
                <a:spcPts val="4480"/>
              </a:lnSpc>
            </a:pPr>
            <a:r>
              <a:rPr lang="en-US" sz="3200" b="true">
                <a:solidFill>
                  <a:srgbClr val="2C3E50"/>
                </a:solidFill>
                <a:latin typeface="Canva Sans Bold"/>
                <a:ea typeface="Canva Sans Bold"/>
                <a:cs typeface="Canva Sans Bold"/>
                <a:sym typeface="Canva Sans Bold"/>
              </a:rPr>
              <a:t>Hybrid CNN model for URL and Hyperlink features</a:t>
            </a:r>
          </a:p>
        </p:txBody>
      </p:sp>
      <p:sp>
        <p:nvSpPr>
          <p:cNvPr name="TextBox 8" id="8"/>
          <p:cNvSpPr txBox="true"/>
          <p:nvPr/>
        </p:nvSpPr>
        <p:spPr>
          <a:xfrm rot="0">
            <a:off x="666750" y="1168966"/>
            <a:ext cx="12006905" cy="3237231"/>
          </a:xfrm>
          <a:prstGeom prst="rect">
            <a:avLst/>
          </a:prstGeom>
        </p:spPr>
        <p:txBody>
          <a:bodyPr anchor="t" rtlCol="false" tIns="0" lIns="0" bIns="0" rIns="0">
            <a:spAutoFit/>
          </a:bodyPr>
          <a:lstStyle/>
          <a:p>
            <a:pPr algn="just">
              <a:lnSpc>
                <a:spcPts val="3219"/>
              </a:lnSpc>
            </a:pPr>
            <a:r>
              <a:rPr lang="en-US" sz="2299" spc="-22">
                <a:solidFill>
                  <a:srgbClr val="2C3E50"/>
                </a:solidFill>
                <a:latin typeface="Arial MT Pro"/>
                <a:ea typeface="Arial MT Pro"/>
                <a:cs typeface="Arial MT Pro"/>
                <a:sym typeface="Arial MT Pro"/>
              </a:rPr>
              <a:t>Model Architecture (PyTorch): A "two-headed" hybrid model was built.</a:t>
            </a:r>
          </a:p>
          <a:p>
            <a:pPr algn="just">
              <a:lnSpc>
                <a:spcPts val="3219"/>
              </a:lnSpc>
            </a:pPr>
            <a:r>
              <a:rPr lang="en-US" b="true" sz="2299" spc="-22">
                <a:solidFill>
                  <a:srgbClr val="2C3E50"/>
                </a:solidFill>
                <a:latin typeface="Arial MT Pro Bold"/>
                <a:ea typeface="Arial MT Pro Bold"/>
                <a:cs typeface="Arial MT Pro Bold"/>
                <a:sym typeface="Arial MT Pro Bold"/>
              </a:rPr>
              <a:t>Head 1 (Sequential Head)</a:t>
            </a:r>
            <a:r>
              <a:rPr lang="en-US" sz="2299" spc="-22">
                <a:solidFill>
                  <a:srgbClr val="2C3E50"/>
                </a:solidFill>
                <a:latin typeface="Arial MT Pro"/>
                <a:ea typeface="Arial MT Pro"/>
                <a:cs typeface="Arial MT Pro"/>
                <a:sym typeface="Arial MT Pro"/>
              </a:rPr>
              <a:t>: Took the 200-char-sequence vector (c_1...c_200) and fed it into an Embedding layer followed by either a 1D-CNN or a GRU layer. This is isolation gave an accuracy of 95 %.</a:t>
            </a:r>
          </a:p>
          <a:p>
            <a:pPr algn="just">
              <a:lnSpc>
                <a:spcPts val="3219"/>
              </a:lnSpc>
            </a:pPr>
            <a:r>
              <a:rPr lang="en-US" b="true" sz="2299" spc="-22">
                <a:solidFill>
                  <a:srgbClr val="2C3E50"/>
                </a:solidFill>
                <a:latin typeface="Arial MT Pro Bold"/>
                <a:ea typeface="Arial MT Pro Bold"/>
                <a:cs typeface="Arial MT Pro Bold"/>
                <a:sym typeface="Arial MT Pro Bold"/>
              </a:rPr>
              <a:t>Head 2 (Heuristic Head)</a:t>
            </a:r>
            <a:r>
              <a:rPr lang="en-US" sz="2299" spc="-22">
                <a:solidFill>
                  <a:srgbClr val="2C3E50"/>
                </a:solidFill>
                <a:latin typeface="Arial MT Pro"/>
                <a:ea typeface="Arial MT Pro"/>
                <a:cs typeface="Arial MT Pro"/>
                <a:sym typeface="Arial MT Pro"/>
              </a:rPr>
              <a:t>: Took all other 34 heuristic features (21 lexical + 13 hyperlink) and fed them into a standard multi-layer ANN (FC) head along with the result from convolutional layers.</a:t>
            </a:r>
          </a:p>
          <a:p>
            <a:pPr algn="just">
              <a:lnSpc>
                <a:spcPts val="3219"/>
              </a:lnSpc>
              <a:spcBef>
                <a:spcPct val="0"/>
              </a:spcBef>
            </a:pPr>
            <a:r>
              <a:rPr lang="en-US" sz="2299" spc="-22">
                <a:solidFill>
                  <a:srgbClr val="2C3E50"/>
                </a:solidFill>
                <a:latin typeface="Arial MT Pro"/>
                <a:ea typeface="Arial MT Pro"/>
                <a:cs typeface="Arial MT Pro"/>
                <a:sym typeface="Arial MT Pro"/>
              </a:rPr>
              <a:t>This model achieves an accuracy of 96.32 %.</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666750" y="243331"/>
            <a:ext cx="12639675" cy="1805940"/>
            <a:chOff x="0" y="0"/>
            <a:chExt cx="16852900" cy="2407920"/>
          </a:xfrm>
        </p:grpSpPr>
        <p:sp>
          <p:nvSpPr>
            <p:cNvPr name="TextBox 3" id="3"/>
            <p:cNvSpPr txBox="true"/>
            <p:nvPr/>
          </p:nvSpPr>
          <p:spPr>
            <a:xfrm rot="0">
              <a:off x="0" y="-19050"/>
              <a:ext cx="16852900" cy="1432984"/>
            </a:xfrm>
            <a:prstGeom prst="rect">
              <a:avLst/>
            </a:prstGeom>
          </p:spPr>
          <p:txBody>
            <a:bodyPr anchor="t" rtlCol="false" tIns="0" lIns="0" bIns="0" rIns="0">
              <a:spAutoFit/>
            </a:bodyPr>
            <a:lstStyle/>
            <a:p>
              <a:pPr algn="l" marL="0" indent="0" lvl="0">
                <a:lnSpc>
                  <a:spcPts val="7700"/>
                </a:lnSpc>
              </a:pPr>
              <a:r>
                <a:rPr lang="en-US" b="true" sz="7000" spc="-70">
                  <a:solidFill>
                    <a:srgbClr val="2C3E50"/>
                  </a:solidFill>
                  <a:latin typeface="Telegraf Bold"/>
                  <a:ea typeface="Telegraf Bold"/>
                  <a:cs typeface="Telegraf Bold"/>
                  <a:sym typeface="Telegraf Bold"/>
                </a:rPr>
                <a:t>Methodology</a:t>
              </a:r>
            </a:p>
          </p:txBody>
        </p:sp>
        <p:sp>
          <p:nvSpPr>
            <p:cNvPr name="TextBox 4" id="4"/>
            <p:cNvSpPr txBox="true"/>
            <p:nvPr/>
          </p:nvSpPr>
          <p:spPr>
            <a:xfrm rot="0">
              <a:off x="0" y="1760009"/>
              <a:ext cx="16852900" cy="647912"/>
            </a:xfrm>
            <a:prstGeom prst="rect">
              <a:avLst/>
            </a:prstGeom>
          </p:spPr>
          <p:txBody>
            <a:bodyPr anchor="t" rtlCol="false" tIns="0" lIns="0" bIns="0" rIns="0">
              <a:spAutoFit/>
            </a:bodyPr>
            <a:lstStyle/>
            <a:p>
              <a:pPr algn="l" marL="0" indent="0" lvl="0">
                <a:lnSpc>
                  <a:spcPts val="3519"/>
                </a:lnSpc>
              </a:pPr>
              <a:r>
                <a:rPr lang="en-US" b="true" sz="3199" spc="-31">
                  <a:solidFill>
                    <a:srgbClr val="2C3E50"/>
                  </a:solidFill>
                  <a:latin typeface="Telegraf Bold"/>
                  <a:ea typeface="Telegraf Bold"/>
                  <a:cs typeface="Telegraf Bold"/>
                  <a:sym typeface="Telegraf Bold"/>
                </a:rPr>
                <a:t>HTML Content (DOM) Features</a:t>
              </a:r>
            </a:p>
          </p:txBody>
        </p:sp>
      </p:grpSp>
      <p:grpSp>
        <p:nvGrpSpPr>
          <p:cNvPr name="Group 5" id="5"/>
          <p:cNvGrpSpPr/>
          <p:nvPr/>
        </p:nvGrpSpPr>
        <p:grpSpPr>
          <a:xfrm rot="0">
            <a:off x="15049500" y="0"/>
            <a:ext cx="3238500" cy="10287000"/>
            <a:chOff x="0" y="0"/>
            <a:chExt cx="852938" cy="2709333"/>
          </a:xfrm>
        </p:grpSpPr>
        <p:sp>
          <p:nvSpPr>
            <p:cNvPr name="Freeform 6" id="6"/>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18BC9C"/>
            </a:solidFill>
          </p:spPr>
        </p:sp>
        <p:sp>
          <p:nvSpPr>
            <p:cNvPr name="TextBox 7" id="7"/>
            <p:cNvSpPr txBox="true"/>
            <p:nvPr/>
          </p:nvSpPr>
          <p:spPr>
            <a:xfrm>
              <a:off x="0" y="-76200"/>
              <a:ext cx="852938" cy="2785533"/>
            </a:xfrm>
            <a:prstGeom prst="rect">
              <a:avLst/>
            </a:prstGeom>
          </p:spPr>
          <p:txBody>
            <a:bodyPr anchor="ctr" rtlCol="false" tIns="50800" lIns="50800" bIns="50800" rIns="50800"/>
            <a:lstStyle/>
            <a:p>
              <a:pPr algn="ctr" marL="0" indent="0" lvl="0">
                <a:lnSpc>
                  <a:spcPts val="2800"/>
                </a:lnSpc>
              </a:pPr>
            </a:p>
          </p:txBody>
        </p:sp>
      </p:grpSp>
      <p:sp>
        <p:nvSpPr>
          <p:cNvPr name="AutoShape 8" id="8"/>
          <p:cNvSpPr/>
          <p:nvPr/>
        </p:nvSpPr>
        <p:spPr>
          <a:xfrm>
            <a:off x="666750" y="9935391"/>
            <a:ext cx="12006905" cy="0"/>
          </a:xfrm>
          <a:prstGeom prst="line">
            <a:avLst/>
          </a:prstGeom>
          <a:ln cap="flat" w="9525">
            <a:solidFill>
              <a:srgbClr val="2C3E50"/>
            </a:solidFill>
            <a:prstDash val="solid"/>
            <a:headEnd type="none" len="sm" w="sm"/>
            <a:tailEnd type="none" len="sm" w="sm"/>
          </a:ln>
        </p:spPr>
      </p:sp>
      <p:sp>
        <p:nvSpPr>
          <p:cNvPr name="TextBox 9" id="9"/>
          <p:cNvSpPr txBox="true"/>
          <p:nvPr/>
        </p:nvSpPr>
        <p:spPr>
          <a:xfrm rot="0">
            <a:off x="666750" y="1954021"/>
            <a:ext cx="12006905" cy="836931"/>
          </a:xfrm>
          <a:prstGeom prst="rect">
            <a:avLst/>
          </a:prstGeom>
        </p:spPr>
        <p:txBody>
          <a:bodyPr anchor="t" rtlCol="false" tIns="0" lIns="0" bIns="0" rIns="0">
            <a:spAutoFit/>
          </a:bodyPr>
          <a:lstStyle/>
          <a:p>
            <a:pPr algn="just">
              <a:lnSpc>
                <a:spcPts val="3219"/>
              </a:lnSpc>
              <a:spcBef>
                <a:spcPct val="0"/>
              </a:spcBef>
            </a:pPr>
            <a:r>
              <a:rPr lang="en-US" sz="2299" spc="-22">
                <a:solidFill>
                  <a:srgbClr val="2C3E50"/>
                </a:solidFill>
                <a:latin typeface="Arial MT Pro"/>
                <a:ea typeface="Arial MT Pro"/>
                <a:cs typeface="Arial MT Pro"/>
                <a:sym typeface="Arial MT Pro"/>
              </a:rPr>
              <a:t>This phase was designed to extract semantic meaning from the page's text. The HTML &lt;body&gt; and &lt;title&gt; tags were parsed using BeautifulSoup.</a:t>
            </a:r>
          </a:p>
        </p:txBody>
      </p:sp>
      <p:sp>
        <p:nvSpPr>
          <p:cNvPr name="TextBox 10" id="10"/>
          <p:cNvSpPr txBox="true"/>
          <p:nvPr/>
        </p:nvSpPr>
        <p:spPr>
          <a:xfrm rot="0">
            <a:off x="666750" y="2938590"/>
            <a:ext cx="6670203" cy="464820"/>
          </a:xfrm>
          <a:prstGeom prst="rect">
            <a:avLst/>
          </a:prstGeom>
        </p:spPr>
        <p:txBody>
          <a:bodyPr anchor="t" rtlCol="false" tIns="0" lIns="0" bIns="0" rIns="0">
            <a:spAutoFit/>
          </a:bodyPr>
          <a:lstStyle/>
          <a:p>
            <a:pPr algn="l">
              <a:lnSpc>
                <a:spcPts val="3780"/>
              </a:lnSpc>
            </a:pPr>
            <a:r>
              <a:rPr lang="en-US" sz="2700" b="true">
                <a:solidFill>
                  <a:srgbClr val="2C3E50"/>
                </a:solidFill>
                <a:latin typeface="Canva Sans Bold"/>
                <a:ea typeface="Canva Sans Bold"/>
                <a:cs typeface="Canva Sans Bold"/>
                <a:sym typeface="Canva Sans Bold"/>
              </a:rPr>
              <a:t>a. Text Cleaning and Preprocessing</a:t>
            </a:r>
          </a:p>
        </p:txBody>
      </p:sp>
      <p:sp>
        <p:nvSpPr>
          <p:cNvPr name="TextBox 11" id="11"/>
          <p:cNvSpPr txBox="true"/>
          <p:nvPr/>
        </p:nvSpPr>
        <p:spPr>
          <a:xfrm rot="0">
            <a:off x="666750" y="3410553"/>
            <a:ext cx="12006905" cy="3637281"/>
          </a:xfrm>
          <a:prstGeom prst="rect">
            <a:avLst/>
          </a:prstGeom>
        </p:spPr>
        <p:txBody>
          <a:bodyPr anchor="t" rtlCol="false" tIns="0" lIns="0" bIns="0" rIns="0">
            <a:spAutoFit/>
          </a:bodyPr>
          <a:lstStyle/>
          <a:p>
            <a:pPr algn="just">
              <a:lnSpc>
                <a:spcPts val="3219"/>
              </a:lnSpc>
            </a:pPr>
            <a:r>
              <a:rPr lang="en-US" sz="2299" spc="-22">
                <a:solidFill>
                  <a:srgbClr val="2C3E50"/>
                </a:solidFill>
                <a:latin typeface="Arial MT Pro"/>
                <a:ea typeface="Arial MT Pro"/>
                <a:cs typeface="Arial MT Pro"/>
                <a:sym typeface="Arial MT Pro"/>
              </a:rPr>
              <a:t>The raw text was heavily preprocessed:</a:t>
            </a:r>
          </a:p>
          <a:p>
            <a:pPr algn="just" marL="496564" indent="-248282" lvl="1">
              <a:lnSpc>
                <a:spcPts val="3219"/>
              </a:lnSpc>
              <a:buAutoNum type="arabicPeriod" startAt="1"/>
            </a:pPr>
            <a:r>
              <a:rPr lang="en-US" sz="2299" spc="-22">
                <a:solidFill>
                  <a:srgbClr val="2C3E50"/>
                </a:solidFill>
                <a:latin typeface="Arial MT Pro"/>
                <a:ea typeface="Arial MT Pro"/>
                <a:cs typeface="Arial MT Pro"/>
                <a:sym typeface="Arial MT Pro"/>
              </a:rPr>
              <a:t>Converted to </a:t>
            </a:r>
            <a:r>
              <a:rPr lang="en-US" b="true" sz="2299" spc="-22">
                <a:solidFill>
                  <a:srgbClr val="2C3E50"/>
                </a:solidFill>
                <a:latin typeface="Arial MT Pro Bold"/>
                <a:ea typeface="Arial MT Pro Bold"/>
                <a:cs typeface="Arial MT Pro Bold"/>
                <a:sym typeface="Arial MT Pro Bold"/>
              </a:rPr>
              <a:t>lowercase</a:t>
            </a:r>
            <a:r>
              <a:rPr lang="en-US" sz="2299" spc="-22">
                <a:solidFill>
                  <a:srgbClr val="2C3E50"/>
                </a:solidFill>
                <a:latin typeface="Arial MT Pro"/>
                <a:ea typeface="Arial MT Pro"/>
                <a:cs typeface="Arial MT Pro"/>
                <a:sym typeface="Arial MT Pro"/>
              </a:rPr>
              <a:t>.</a:t>
            </a:r>
          </a:p>
          <a:p>
            <a:pPr algn="just" marL="496564" indent="-248282" lvl="1">
              <a:lnSpc>
                <a:spcPts val="3219"/>
              </a:lnSpc>
              <a:buAutoNum type="arabicPeriod" startAt="1"/>
            </a:pPr>
            <a:r>
              <a:rPr lang="en-US" sz="2299" spc="-22">
                <a:solidFill>
                  <a:srgbClr val="2C3E50"/>
                </a:solidFill>
                <a:latin typeface="Arial MT Pro"/>
                <a:ea typeface="Arial MT Pro"/>
                <a:cs typeface="Arial MT Pro"/>
                <a:sym typeface="Arial MT Pro"/>
              </a:rPr>
              <a:t>Removed all URLs, mentions, hashtags, and non-alphabetic characters using regex.</a:t>
            </a:r>
          </a:p>
          <a:p>
            <a:pPr algn="just" marL="496564" indent="-248282" lvl="1">
              <a:lnSpc>
                <a:spcPts val="3219"/>
              </a:lnSpc>
              <a:buAutoNum type="arabicPeriod" startAt="1"/>
            </a:pPr>
            <a:r>
              <a:rPr lang="en-US" b="true" sz="2299" spc="-22">
                <a:solidFill>
                  <a:srgbClr val="2C3E50"/>
                </a:solidFill>
                <a:latin typeface="Arial MT Pro Bold"/>
                <a:ea typeface="Arial MT Pro Bold"/>
                <a:cs typeface="Arial MT Pro Bold"/>
                <a:sym typeface="Arial MT Pro Bold"/>
              </a:rPr>
              <a:t>Tokenized</a:t>
            </a:r>
            <a:r>
              <a:rPr lang="en-US" sz="2299" spc="-22">
                <a:solidFill>
                  <a:srgbClr val="2C3E50"/>
                </a:solidFill>
                <a:latin typeface="Arial MT Pro"/>
                <a:ea typeface="Arial MT Pro"/>
                <a:cs typeface="Arial MT Pro"/>
                <a:sym typeface="Arial MT Pro"/>
              </a:rPr>
              <a:t> (split into individual words).</a:t>
            </a:r>
          </a:p>
          <a:p>
            <a:pPr algn="just" marL="496564" indent="-248282" lvl="1">
              <a:lnSpc>
                <a:spcPts val="3219"/>
              </a:lnSpc>
              <a:buAutoNum type="arabicPeriod" startAt="1"/>
            </a:pPr>
            <a:r>
              <a:rPr lang="en-US" b="true" sz="2299" spc="-22">
                <a:solidFill>
                  <a:srgbClr val="2C3E50"/>
                </a:solidFill>
                <a:latin typeface="Arial MT Pro Bold"/>
                <a:ea typeface="Arial MT Pro Bold"/>
                <a:cs typeface="Arial MT Pro Bold"/>
                <a:sym typeface="Arial MT Pro Bold"/>
              </a:rPr>
              <a:t>Stopword</a:t>
            </a:r>
            <a:r>
              <a:rPr lang="en-US" sz="2299" spc="-22">
                <a:solidFill>
                  <a:srgbClr val="2C3E50"/>
                </a:solidFill>
                <a:latin typeface="Arial MT Pro"/>
                <a:ea typeface="Arial MT Pro"/>
                <a:cs typeface="Arial MT Pro"/>
                <a:sym typeface="Arial MT Pro"/>
              </a:rPr>
              <a:t> </a:t>
            </a:r>
            <a:r>
              <a:rPr lang="en-US" b="true" sz="2299" spc="-22">
                <a:solidFill>
                  <a:srgbClr val="2C3E50"/>
                </a:solidFill>
                <a:latin typeface="Arial MT Pro Bold"/>
                <a:ea typeface="Arial MT Pro Bold"/>
                <a:cs typeface="Arial MT Pro Bold"/>
                <a:sym typeface="Arial MT Pro Bold"/>
              </a:rPr>
              <a:t>Removal</a:t>
            </a:r>
            <a:r>
              <a:rPr lang="en-US" sz="2299" spc="-22">
                <a:solidFill>
                  <a:srgbClr val="2C3E50"/>
                </a:solidFill>
                <a:latin typeface="Arial MT Pro"/>
                <a:ea typeface="Arial MT Pro"/>
                <a:cs typeface="Arial MT Pro"/>
                <a:sym typeface="Arial MT Pro"/>
              </a:rPr>
              <a:t>: Common English stopwords (e.g., "the", "a", "is") were removed.</a:t>
            </a:r>
          </a:p>
          <a:p>
            <a:pPr algn="just" marL="496564" indent="-248282" lvl="1">
              <a:lnSpc>
                <a:spcPts val="3219"/>
              </a:lnSpc>
              <a:buAutoNum type="arabicPeriod" startAt="1"/>
            </a:pPr>
            <a:r>
              <a:rPr lang="en-US" b="true" sz="2299" spc="-22">
                <a:solidFill>
                  <a:srgbClr val="2C3E50"/>
                </a:solidFill>
                <a:latin typeface="Arial MT Pro Bold"/>
                <a:ea typeface="Arial MT Pro Bold"/>
                <a:cs typeface="Arial MT Pro Bold"/>
                <a:sym typeface="Arial MT Pro Bold"/>
              </a:rPr>
              <a:t>Lemmatization</a:t>
            </a:r>
            <a:r>
              <a:rPr lang="en-US" sz="2299" spc="-22">
                <a:solidFill>
                  <a:srgbClr val="2C3E50"/>
                </a:solidFill>
                <a:latin typeface="Arial MT Pro"/>
                <a:ea typeface="Arial MT Pro"/>
                <a:cs typeface="Arial MT Pro"/>
                <a:sym typeface="Arial MT Pro"/>
              </a:rPr>
              <a:t>: To reduce words to their root form, a WordNetLemmatizer was used. This was enhanced with POS-tagging (Part-of-Speech).</a:t>
            </a:r>
          </a:p>
          <a:p>
            <a:pPr algn="just" marL="496564" indent="-248282" lvl="1">
              <a:lnSpc>
                <a:spcPts val="3219"/>
              </a:lnSpc>
              <a:spcBef>
                <a:spcPct val="0"/>
              </a:spcBef>
              <a:buAutoNum type="arabicPeriod" startAt="1"/>
            </a:pPr>
            <a:r>
              <a:rPr lang="en-US" b="true" sz="2299" spc="-22">
                <a:solidFill>
                  <a:srgbClr val="2C3E50"/>
                </a:solidFill>
                <a:latin typeface="Arial MT Pro Bold"/>
                <a:ea typeface="Arial MT Pro Bold"/>
                <a:cs typeface="Arial MT Pro Bold"/>
                <a:sym typeface="Arial MT Pro Bold"/>
              </a:rPr>
              <a:t>Vectorization (Tokenization)</a:t>
            </a:r>
            <a:r>
              <a:rPr lang="en-US" sz="2299" spc="-22">
                <a:solidFill>
                  <a:srgbClr val="2C3E50"/>
                </a:solidFill>
                <a:latin typeface="Arial MT Pro"/>
                <a:ea typeface="Arial MT Pro"/>
                <a:cs typeface="Arial MT Pro"/>
                <a:sym typeface="Arial MT Pro"/>
              </a:rPr>
              <a:t>: A Keras Tokenizer was fit on the entire corpus (all titles and content) to build a master vocabulary.</a:t>
            </a:r>
          </a:p>
        </p:txBody>
      </p:sp>
      <p:sp>
        <p:nvSpPr>
          <p:cNvPr name="TextBox 12" id="12"/>
          <p:cNvSpPr txBox="true"/>
          <p:nvPr/>
        </p:nvSpPr>
        <p:spPr>
          <a:xfrm rot="0">
            <a:off x="666750" y="7150957"/>
            <a:ext cx="6670203" cy="464820"/>
          </a:xfrm>
          <a:prstGeom prst="rect">
            <a:avLst/>
          </a:prstGeom>
        </p:spPr>
        <p:txBody>
          <a:bodyPr anchor="t" rtlCol="false" tIns="0" lIns="0" bIns="0" rIns="0">
            <a:spAutoFit/>
          </a:bodyPr>
          <a:lstStyle/>
          <a:p>
            <a:pPr algn="l">
              <a:lnSpc>
                <a:spcPts val="3780"/>
              </a:lnSpc>
            </a:pPr>
            <a:r>
              <a:rPr lang="en-US" sz="2700" b="true">
                <a:solidFill>
                  <a:srgbClr val="2C3E50"/>
                </a:solidFill>
                <a:latin typeface="Canva Sans Bold"/>
                <a:ea typeface="Canva Sans Bold"/>
                <a:cs typeface="Canva Sans Bold"/>
                <a:sym typeface="Canva Sans Bold"/>
              </a:rPr>
              <a:t>b. E</a:t>
            </a:r>
            <a:r>
              <a:rPr lang="en-US" sz="2700" b="true">
                <a:solidFill>
                  <a:srgbClr val="2C3E50"/>
                </a:solidFill>
                <a:latin typeface="Canva Sans Bold"/>
                <a:ea typeface="Canva Sans Bold"/>
                <a:cs typeface="Canva Sans Bold"/>
                <a:sym typeface="Canva Sans Bold"/>
              </a:rPr>
              <a:t>mbedding</a:t>
            </a:r>
          </a:p>
        </p:txBody>
      </p:sp>
      <p:sp>
        <p:nvSpPr>
          <p:cNvPr name="TextBox 13" id="13"/>
          <p:cNvSpPr txBox="true"/>
          <p:nvPr/>
        </p:nvSpPr>
        <p:spPr>
          <a:xfrm rot="0">
            <a:off x="666750" y="7682452"/>
            <a:ext cx="12006905" cy="2037081"/>
          </a:xfrm>
          <a:prstGeom prst="rect">
            <a:avLst/>
          </a:prstGeom>
        </p:spPr>
        <p:txBody>
          <a:bodyPr anchor="t" rtlCol="false" tIns="0" lIns="0" bIns="0" rIns="0">
            <a:spAutoFit/>
          </a:bodyPr>
          <a:lstStyle/>
          <a:p>
            <a:pPr algn="just" marL="496564" indent="-248282" lvl="1">
              <a:lnSpc>
                <a:spcPts val="3219"/>
              </a:lnSpc>
              <a:buAutoNum type="arabicPeriod" startAt="1"/>
            </a:pPr>
            <a:r>
              <a:rPr lang="en-US" b="true" sz="2299" spc="-22">
                <a:solidFill>
                  <a:srgbClr val="2C3E50"/>
                </a:solidFill>
                <a:latin typeface="Arial MT Pro Bold"/>
                <a:ea typeface="Arial MT Pro Bold"/>
                <a:cs typeface="Arial MT Pro Bold"/>
                <a:sym typeface="Arial MT Pro Bold"/>
              </a:rPr>
              <a:t>Pre-trained GloVe </a:t>
            </a:r>
            <a:r>
              <a:rPr lang="en-US" b="true" sz="2299" spc="-22">
                <a:solidFill>
                  <a:srgbClr val="2C3E50"/>
                </a:solidFill>
                <a:latin typeface="Arial MT Pro Bold"/>
                <a:ea typeface="Arial MT Pro Bold"/>
                <a:cs typeface="Arial MT Pro Bold"/>
                <a:sym typeface="Arial MT Pro Bold"/>
              </a:rPr>
              <a:t>embeddings</a:t>
            </a:r>
            <a:r>
              <a:rPr lang="en-US" sz="2299" spc="-22">
                <a:solidFill>
                  <a:srgbClr val="2C3E50"/>
                </a:solidFill>
                <a:latin typeface="Arial MT Pro"/>
                <a:ea typeface="Arial MT Pro"/>
                <a:cs typeface="Arial MT Pro"/>
                <a:sym typeface="Arial MT Pro"/>
              </a:rPr>
              <a:t> (glove.6B.100d.txt) were loaded.</a:t>
            </a:r>
          </a:p>
          <a:p>
            <a:pPr algn="just" marL="496564" indent="-248282" lvl="1">
              <a:lnSpc>
                <a:spcPts val="3219"/>
              </a:lnSpc>
              <a:buAutoNum type="arabicPeriod" startAt="1"/>
            </a:pPr>
            <a:r>
              <a:rPr lang="en-US" sz="2299" spc="-22">
                <a:solidFill>
                  <a:srgbClr val="2C3E50"/>
                </a:solidFill>
                <a:latin typeface="Arial MT Pro"/>
                <a:ea typeface="Arial MT Pro"/>
                <a:cs typeface="Arial MT Pro"/>
                <a:sym typeface="Arial MT Pro"/>
              </a:rPr>
              <a:t>An </a:t>
            </a:r>
            <a:r>
              <a:rPr lang="en-US" b="true" sz="2299" spc="-22">
                <a:solidFill>
                  <a:srgbClr val="2C3E50"/>
                </a:solidFill>
                <a:latin typeface="Arial MT Pro Bold"/>
                <a:ea typeface="Arial MT Pro Bold"/>
                <a:cs typeface="Arial MT Pro Bold"/>
                <a:sym typeface="Arial MT Pro Bold"/>
              </a:rPr>
              <a:t>embedding matrix</a:t>
            </a:r>
            <a:r>
              <a:rPr lang="en-US" sz="2299" spc="-22">
                <a:solidFill>
                  <a:srgbClr val="2C3E50"/>
                </a:solidFill>
                <a:latin typeface="Arial MT Pro"/>
                <a:ea typeface="Arial MT Pro"/>
                <a:cs typeface="Arial MT Pro"/>
                <a:sym typeface="Arial MT Pro"/>
              </a:rPr>
              <a:t> was built, mapping words in the vocabulary to their 100-dimensional GloVe vectors.</a:t>
            </a:r>
          </a:p>
          <a:p>
            <a:pPr algn="just" marL="496564" indent="-248282" lvl="1">
              <a:lnSpc>
                <a:spcPts val="3219"/>
              </a:lnSpc>
              <a:spcBef>
                <a:spcPct val="0"/>
              </a:spcBef>
              <a:buAutoNum type="arabicPeriod" startAt="1"/>
            </a:pPr>
            <a:r>
              <a:rPr lang="en-US" sz="2299" spc="-22">
                <a:solidFill>
                  <a:srgbClr val="2C3E50"/>
                </a:solidFill>
                <a:latin typeface="Arial MT Pro"/>
                <a:ea typeface="Arial MT Pro"/>
                <a:cs typeface="Arial MT Pro"/>
                <a:sym typeface="Arial MT Pro"/>
              </a:rPr>
              <a:t>The page_title text was converted to a 10-word integer sequence and the page_content to a 100-word integer sequence.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15049500" y="0"/>
            <a:ext cx="3238500" cy="10287000"/>
            <a:chOff x="0" y="0"/>
            <a:chExt cx="852938" cy="2709333"/>
          </a:xfrm>
        </p:grpSpPr>
        <p:sp>
          <p:nvSpPr>
            <p:cNvPr name="Freeform 3" id="3"/>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18BC9C"/>
            </a:solidFill>
          </p:spPr>
        </p:sp>
        <p:sp>
          <p:nvSpPr>
            <p:cNvPr name="TextBox 4" id="4"/>
            <p:cNvSpPr txBox="true"/>
            <p:nvPr/>
          </p:nvSpPr>
          <p:spPr>
            <a:xfrm>
              <a:off x="0" y="-76200"/>
              <a:ext cx="852938" cy="2785533"/>
            </a:xfrm>
            <a:prstGeom prst="rect">
              <a:avLst/>
            </a:prstGeom>
          </p:spPr>
          <p:txBody>
            <a:bodyPr anchor="ctr" rtlCol="false" tIns="50800" lIns="50800" bIns="50800" rIns="50800"/>
            <a:lstStyle/>
            <a:p>
              <a:pPr algn="ctr" marL="0" indent="0" lvl="0">
                <a:lnSpc>
                  <a:spcPts val="2800"/>
                </a:lnSpc>
              </a:pPr>
            </a:p>
          </p:txBody>
        </p:sp>
      </p:grpSp>
      <p:sp>
        <p:nvSpPr>
          <p:cNvPr name="AutoShape 5" id="5"/>
          <p:cNvSpPr/>
          <p:nvPr/>
        </p:nvSpPr>
        <p:spPr>
          <a:xfrm>
            <a:off x="666750" y="9935391"/>
            <a:ext cx="12006905" cy="0"/>
          </a:xfrm>
          <a:prstGeom prst="line">
            <a:avLst/>
          </a:prstGeom>
          <a:ln cap="flat" w="9525">
            <a:solidFill>
              <a:srgbClr val="2C3E50"/>
            </a:solidFill>
            <a:prstDash val="solid"/>
            <a:headEnd type="none" len="sm" w="sm"/>
            <a:tailEnd type="none" len="sm" w="sm"/>
          </a:ln>
        </p:spPr>
      </p:sp>
      <p:sp>
        <p:nvSpPr>
          <p:cNvPr name="Freeform 6" id="6"/>
          <p:cNvSpPr/>
          <p:nvPr/>
        </p:nvSpPr>
        <p:spPr>
          <a:xfrm flipH="false" flipV="false" rot="0">
            <a:off x="666750" y="6253438"/>
            <a:ext cx="13947486" cy="3382265"/>
          </a:xfrm>
          <a:custGeom>
            <a:avLst/>
            <a:gdLst/>
            <a:ahLst/>
            <a:cxnLst/>
            <a:rect r="r" b="b" t="t" l="l"/>
            <a:pathLst>
              <a:path h="3382265" w="13947486">
                <a:moveTo>
                  <a:pt x="0" y="0"/>
                </a:moveTo>
                <a:lnTo>
                  <a:pt x="13947486" y="0"/>
                </a:lnTo>
                <a:lnTo>
                  <a:pt x="13947486" y="3382265"/>
                </a:lnTo>
                <a:lnTo>
                  <a:pt x="0" y="3382265"/>
                </a:lnTo>
                <a:lnTo>
                  <a:pt x="0" y="0"/>
                </a:lnTo>
                <a:close/>
              </a:path>
            </a:pathLst>
          </a:custGeom>
          <a:blipFill>
            <a:blip r:embed="rId2"/>
            <a:stretch>
              <a:fillRect l="0" t="0" r="0" b="0"/>
            </a:stretch>
          </a:blipFill>
        </p:spPr>
      </p:sp>
      <p:grpSp>
        <p:nvGrpSpPr>
          <p:cNvPr name="Group 7" id="7"/>
          <p:cNvGrpSpPr/>
          <p:nvPr/>
        </p:nvGrpSpPr>
        <p:grpSpPr>
          <a:xfrm rot="0">
            <a:off x="666750" y="243331"/>
            <a:ext cx="12639675" cy="1805940"/>
            <a:chOff x="0" y="0"/>
            <a:chExt cx="16852900" cy="2407920"/>
          </a:xfrm>
        </p:grpSpPr>
        <p:sp>
          <p:nvSpPr>
            <p:cNvPr name="TextBox 8" id="8"/>
            <p:cNvSpPr txBox="true"/>
            <p:nvPr/>
          </p:nvSpPr>
          <p:spPr>
            <a:xfrm rot="0">
              <a:off x="0" y="-19050"/>
              <a:ext cx="16852900" cy="1432984"/>
            </a:xfrm>
            <a:prstGeom prst="rect">
              <a:avLst/>
            </a:prstGeom>
          </p:spPr>
          <p:txBody>
            <a:bodyPr anchor="t" rtlCol="false" tIns="0" lIns="0" bIns="0" rIns="0">
              <a:spAutoFit/>
            </a:bodyPr>
            <a:lstStyle/>
            <a:p>
              <a:pPr algn="l" marL="0" indent="0" lvl="0">
                <a:lnSpc>
                  <a:spcPts val="7700"/>
                </a:lnSpc>
              </a:pPr>
              <a:r>
                <a:rPr lang="en-US" b="true" sz="7000" spc="-70">
                  <a:solidFill>
                    <a:srgbClr val="2C3E50"/>
                  </a:solidFill>
                  <a:latin typeface="Telegraf Bold"/>
                  <a:ea typeface="Telegraf Bold"/>
                  <a:cs typeface="Telegraf Bold"/>
                  <a:sym typeface="Telegraf Bold"/>
                </a:rPr>
                <a:t>Results</a:t>
              </a:r>
            </a:p>
          </p:txBody>
        </p:sp>
        <p:sp>
          <p:nvSpPr>
            <p:cNvPr name="TextBox 9" id="9"/>
            <p:cNvSpPr txBox="true"/>
            <p:nvPr/>
          </p:nvSpPr>
          <p:spPr>
            <a:xfrm rot="0">
              <a:off x="0" y="1760009"/>
              <a:ext cx="16852900" cy="647912"/>
            </a:xfrm>
            <a:prstGeom prst="rect">
              <a:avLst/>
            </a:prstGeom>
          </p:spPr>
          <p:txBody>
            <a:bodyPr anchor="t" rtlCol="false" tIns="0" lIns="0" bIns="0" rIns="0">
              <a:spAutoFit/>
            </a:bodyPr>
            <a:lstStyle/>
            <a:p>
              <a:pPr algn="l" marL="0" indent="0" lvl="0">
                <a:lnSpc>
                  <a:spcPts val="3519"/>
                </a:lnSpc>
              </a:pPr>
              <a:r>
                <a:rPr lang="en-US" b="true" sz="3199" spc="-31">
                  <a:solidFill>
                    <a:srgbClr val="2C3E50"/>
                  </a:solidFill>
                  <a:latin typeface="Telegraf Bold"/>
                  <a:ea typeface="Telegraf Bold"/>
                  <a:cs typeface="Telegraf Bold"/>
                  <a:sym typeface="Telegraf Bold"/>
                </a:rPr>
                <a:t>Model Evaluation and Comparison</a:t>
              </a:r>
            </a:p>
          </p:txBody>
        </p:sp>
      </p:grpSp>
      <p:sp>
        <p:nvSpPr>
          <p:cNvPr name="TextBox 10" id="10"/>
          <p:cNvSpPr txBox="true"/>
          <p:nvPr/>
        </p:nvSpPr>
        <p:spPr>
          <a:xfrm rot="0">
            <a:off x="666750" y="2181309"/>
            <a:ext cx="12006905" cy="3776854"/>
          </a:xfrm>
          <a:prstGeom prst="rect">
            <a:avLst/>
          </a:prstGeom>
        </p:spPr>
        <p:txBody>
          <a:bodyPr anchor="t" rtlCol="false" tIns="0" lIns="0" bIns="0" rIns="0">
            <a:spAutoFit/>
          </a:bodyPr>
          <a:lstStyle/>
          <a:p>
            <a:pPr algn="just">
              <a:lnSpc>
                <a:spcPts val="3725"/>
              </a:lnSpc>
            </a:pPr>
            <a:r>
              <a:rPr lang="en-US" sz="2699" spc="-26">
                <a:solidFill>
                  <a:srgbClr val="2C3E50"/>
                </a:solidFill>
                <a:latin typeface="Arial MT Pro"/>
                <a:ea typeface="Arial MT Pro"/>
                <a:cs typeface="Arial MT Pro"/>
                <a:sym typeface="Arial MT Pro"/>
              </a:rPr>
              <a:t>We experimented with a variety of classical and deep learning architectures across different feature domains.</a:t>
            </a:r>
          </a:p>
          <a:p>
            <a:pPr algn="just">
              <a:lnSpc>
                <a:spcPts val="3725"/>
              </a:lnSpc>
            </a:pPr>
            <a:r>
              <a:rPr lang="en-US" sz="2699" spc="-26">
                <a:solidFill>
                  <a:srgbClr val="2C3E50"/>
                </a:solidFill>
                <a:latin typeface="Arial MT Pro"/>
                <a:ea typeface="Arial MT Pro"/>
                <a:cs typeface="Arial MT Pro"/>
                <a:sym typeface="Arial MT Pro"/>
              </a:rPr>
              <a:t>For URL-based analysis, models focused on lexical and structural characteristics extracted from web addresses.</a:t>
            </a:r>
          </a:p>
          <a:p>
            <a:pPr algn="just">
              <a:lnSpc>
                <a:spcPts val="3725"/>
              </a:lnSpc>
            </a:pPr>
            <a:r>
              <a:rPr lang="en-US" sz="2699" spc="-26">
                <a:solidFill>
                  <a:srgbClr val="2C3E50"/>
                </a:solidFill>
                <a:latin typeface="Arial MT Pro"/>
                <a:ea typeface="Arial MT Pro"/>
                <a:cs typeface="Arial MT Pro"/>
                <a:sym typeface="Arial MT Pro"/>
              </a:rPr>
              <a:t>Hyperlink-based models analyzed the distribution and nature of internal and external links within webpages to capture behavioral cues.</a:t>
            </a:r>
          </a:p>
          <a:p>
            <a:pPr algn="just">
              <a:lnSpc>
                <a:spcPts val="3725"/>
              </a:lnSpc>
            </a:pPr>
            <a:r>
              <a:rPr lang="en-US" sz="2699" spc="-26">
                <a:solidFill>
                  <a:srgbClr val="2C3E50"/>
                </a:solidFill>
                <a:latin typeface="Arial MT Pro"/>
                <a:ea typeface="Arial MT Pro"/>
                <a:cs typeface="Arial MT Pro"/>
                <a:sym typeface="Arial MT Pro"/>
              </a:rPr>
              <a:t>Content-based models leveraged natural language representations of webpage text and titles to understand semantic intent.</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15049500" y="0"/>
            <a:ext cx="3238500" cy="10287000"/>
            <a:chOff x="0" y="0"/>
            <a:chExt cx="852938" cy="2709333"/>
          </a:xfrm>
        </p:grpSpPr>
        <p:sp>
          <p:nvSpPr>
            <p:cNvPr name="Freeform 3" id="3"/>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18BC9C"/>
            </a:solidFill>
          </p:spPr>
        </p:sp>
        <p:sp>
          <p:nvSpPr>
            <p:cNvPr name="TextBox 4" id="4"/>
            <p:cNvSpPr txBox="true"/>
            <p:nvPr/>
          </p:nvSpPr>
          <p:spPr>
            <a:xfrm>
              <a:off x="0" y="-76200"/>
              <a:ext cx="852938" cy="2785533"/>
            </a:xfrm>
            <a:prstGeom prst="rect">
              <a:avLst/>
            </a:prstGeom>
          </p:spPr>
          <p:txBody>
            <a:bodyPr anchor="ctr" rtlCol="false" tIns="50800" lIns="50800" bIns="50800" rIns="50800"/>
            <a:lstStyle/>
            <a:p>
              <a:pPr algn="ctr" marL="0" indent="0" lvl="0">
                <a:lnSpc>
                  <a:spcPts val="2800"/>
                </a:lnSpc>
              </a:pPr>
            </a:p>
          </p:txBody>
        </p:sp>
      </p:grpSp>
      <p:sp>
        <p:nvSpPr>
          <p:cNvPr name="AutoShape 5" id="5"/>
          <p:cNvSpPr/>
          <p:nvPr/>
        </p:nvSpPr>
        <p:spPr>
          <a:xfrm>
            <a:off x="666750" y="9666342"/>
            <a:ext cx="12006905" cy="0"/>
          </a:xfrm>
          <a:prstGeom prst="line">
            <a:avLst/>
          </a:prstGeom>
          <a:ln cap="flat" w="9525">
            <a:solidFill>
              <a:srgbClr val="2C3E50"/>
            </a:solidFill>
            <a:prstDash val="solid"/>
            <a:headEnd type="none" len="sm" w="sm"/>
            <a:tailEnd type="none" len="sm" w="sm"/>
          </a:ln>
        </p:spPr>
      </p:sp>
      <p:grpSp>
        <p:nvGrpSpPr>
          <p:cNvPr name="Group 6" id="6"/>
          <p:cNvGrpSpPr/>
          <p:nvPr/>
        </p:nvGrpSpPr>
        <p:grpSpPr>
          <a:xfrm rot="0">
            <a:off x="666750" y="423279"/>
            <a:ext cx="12639675" cy="1764030"/>
            <a:chOff x="0" y="0"/>
            <a:chExt cx="16852900" cy="2352040"/>
          </a:xfrm>
        </p:grpSpPr>
        <p:sp>
          <p:nvSpPr>
            <p:cNvPr name="TextBox 7" id="7"/>
            <p:cNvSpPr txBox="true"/>
            <p:nvPr/>
          </p:nvSpPr>
          <p:spPr>
            <a:xfrm rot="0">
              <a:off x="0" y="-19050"/>
              <a:ext cx="16852900" cy="1432984"/>
            </a:xfrm>
            <a:prstGeom prst="rect">
              <a:avLst/>
            </a:prstGeom>
          </p:spPr>
          <p:txBody>
            <a:bodyPr anchor="t" rtlCol="false" tIns="0" lIns="0" bIns="0" rIns="0">
              <a:spAutoFit/>
            </a:bodyPr>
            <a:lstStyle/>
            <a:p>
              <a:pPr algn="l" marL="0" indent="0" lvl="0">
                <a:lnSpc>
                  <a:spcPts val="7700"/>
                </a:lnSpc>
              </a:pPr>
              <a:r>
                <a:rPr lang="en-US" b="true" sz="7000" spc="-70">
                  <a:solidFill>
                    <a:srgbClr val="2C3E50"/>
                  </a:solidFill>
                  <a:latin typeface="Telegraf Bold"/>
                  <a:ea typeface="Telegraf Bold"/>
                  <a:cs typeface="Telegraf Bold"/>
                  <a:sym typeface="Telegraf Bold"/>
                </a:rPr>
                <a:t>Results</a:t>
              </a:r>
            </a:p>
          </p:txBody>
        </p:sp>
        <p:sp>
          <p:nvSpPr>
            <p:cNvPr name="TextBox 8" id="8"/>
            <p:cNvSpPr txBox="true"/>
            <p:nvPr/>
          </p:nvSpPr>
          <p:spPr>
            <a:xfrm rot="0">
              <a:off x="0" y="1769534"/>
              <a:ext cx="16852900" cy="582507"/>
            </a:xfrm>
            <a:prstGeom prst="rect">
              <a:avLst/>
            </a:prstGeom>
          </p:spPr>
          <p:txBody>
            <a:bodyPr anchor="t" rtlCol="false" tIns="0" lIns="0" bIns="0" rIns="0">
              <a:spAutoFit/>
            </a:bodyPr>
            <a:lstStyle/>
            <a:p>
              <a:pPr algn="l" marL="0" indent="0" lvl="0">
                <a:lnSpc>
                  <a:spcPts val="3190"/>
                </a:lnSpc>
              </a:pPr>
              <a:r>
                <a:rPr lang="en-US" b="true" sz="2900" spc="-29">
                  <a:solidFill>
                    <a:srgbClr val="2C3E50"/>
                  </a:solidFill>
                  <a:latin typeface="Telegraf Bold"/>
                  <a:ea typeface="Telegraf Bold"/>
                  <a:cs typeface="Telegraf Bold"/>
                  <a:sym typeface="Telegraf Bold"/>
                </a:rPr>
                <a:t>Comprehensive findings on phishing detection accuracy presented</a:t>
              </a:r>
            </a:p>
          </p:txBody>
        </p:sp>
      </p:grpSp>
      <p:sp>
        <p:nvSpPr>
          <p:cNvPr name="TextBox 9" id="9"/>
          <p:cNvSpPr txBox="true"/>
          <p:nvPr/>
        </p:nvSpPr>
        <p:spPr>
          <a:xfrm rot="0">
            <a:off x="666750" y="2265219"/>
            <a:ext cx="6670203" cy="431799"/>
          </a:xfrm>
          <a:prstGeom prst="rect">
            <a:avLst/>
          </a:prstGeom>
        </p:spPr>
        <p:txBody>
          <a:bodyPr anchor="t" rtlCol="false" tIns="0" lIns="0" bIns="0" rIns="0">
            <a:spAutoFit/>
          </a:bodyPr>
          <a:lstStyle/>
          <a:p>
            <a:pPr algn="l">
              <a:lnSpc>
                <a:spcPts val="3500"/>
              </a:lnSpc>
            </a:pPr>
            <a:r>
              <a:rPr lang="en-US" sz="2500" b="true">
                <a:solidFill>
                  <a:srgbClr val="2C3E50"/>
                </a:solidFill>
                <a:latin typeface="Canva Sans Bold"/>
                <a:ea typeface="Canva Sans Bold"/>
                <a:cs typeface="Canva Sans Bold"/>
                <a:sym typeface="Canva Sans Bold"/>
              </a:rPr>
              <a:t>URL-Based Models</a:t>
            </a:r>
          </a:p>
        </p:txBody>
      </p:sp>
      <p:sp>
        <p:nvSpPr>
          <p:cNvPr name="TextBox 10" id="10"/>
          <p:cNvSpPr txBox="true"/>
          <p:nvPr/>
        </p:nvSpPr>
        <p:spPr>
          <a:xfrm rot="0">
            <a:off x="666750" y="2684124"/>
            <a:ext cx="12006905" cy="1236981"/>
          </a:xfrm>
          <a:prstGeom prst="rect">
            <a:avLst/>
          </a:prstGeom>
        </p:spPr>
        <p:txBody>
          <a:bodyPr anchor="t" rtlCol="false" tIns="0" lIns="0" bIns="0" rIns="0">
            <a:spAutoFit/>
          </a:bodyPr>
          <a:lstStyle/>
          <a:p>
            <a:pPr algn="just">
              <a:lnSpc>
                <a:spcPts val="3219"/>
              </a:lnSpc>
              <a:spcBef>
                <a:spcPct val="0"/>
              </a:spcBef>
            </a:pPr>
            <a:r>
              <a:rPr lang="en-US" sz="2299" spc="-22">
                <a:solidFill>
                  <a:srgbClr val="2C3E50"/>
                </a:solidFill>
                <a:latin typeface="Arial MT Pro"/>
                <a:ea typeface="Arial MT Pro"/>
                <a:cs typeface="Arial MT Pro"/>
                <a:sym typeface="Arial MT Pro"/>
              </a:rPr>
              <a:t>The 221 URL features were used to train 5 classic ML models. </a:t>
            </a:r>
            <a:r>
              <a:rPr lang="en-US" sz="2299" spc="-22">
                <a:solidFill>
                  <a:srgbClr val="2C3E50"/>
                </a:solidFill>
                <a:latin typeface="Arial MT Pro"/>
                <a:ea typeface="Arial MT Pro"/>
                <a:cs typeface="Arial MT Pro"/>
                <a:sym typeface="Arial MT Pro"/>
              </a:rPr>
              <a:t>XGBoost was the top performer with 92.4% accuracy and the lowest false negatives (674), outperforming Random Forest (91.4%) and SVC (88.2%).</a:t>
            </a:r>
          </a:p>
        </p:txBody>
      </p:sp>
      <p:sp>
        <p:nvSpPr>
          <p:cNvPr name="TextBox 11" id="11"/>
          <p:cNvSpPr txBox="true"/>
          <p:nvPr/>
        </p:nvSpPr>
        <p:spPr>
          <a:xfrm rot="0">
            <a:off x="666750" y="3968730"/>
            <a:ext cx="6670203" cy="396239"/>
          </a:xfrm>
          <a:prstGeom prst="rect">
            <a:avLst/>
          </a:prstGeom>
        </p:spPr>
        <p:txBody>
          <a:bodyPr anchor="t" rtlCol="false" tIns="0" lIns="0" bIns="0" rIns="0">
            <a:spAutoFit/>
          </a:bodyPr>
          <a:lstStyle/>
          <a:p>
            <a:pPr algn="l">
              <a:lnSpc>
                <a:spcPts val="3360"/>
              </a:lnSpc>
            </a:pPr>
            <a:r>
              <a:rPr lang="en-US" sz="2400" b="true">
                <a:solidFill>
                  <a:srgbClr val="2C3E50"/>
                </a:solidFill>
                <a:latin typeface="Canva Sans Bold"/>
                <a:ea typeface="Canva Sans Bold"/>
                <a:cs typeface="Canva Sans Bold"/>
                <a:sym typeface="Canva Sans Bold"/>
              </a:rPr>
              <a:t>Hyperlink-Based Models</a:t>
            </a:r>
          </a:p>
        </p:txBody>
      </p:sp>
      <p:sp>
        <p:nvSpPr>
          <p:cNvPr name="TextBox 12" id="12"/>
          <p:cNvSpPr txBox="true"/>
          <p:nvPr/>
        </p:nvSpPr>
        <p:spPr>
          <a:xfrm rot="0">
            <a:off x="666750" y="4269719"/>
            <a:ext cx="12006905" cy="2037081"/>
          </a:xfrm>
          <a:prstGeom prst="rect">
            <a:avLst/>
          </a:prstGeom>
        </p:spPr>
        <p:txBody>
          <a:bodyPr anchor="t" rtlCol="false" tIns="0" lIns="0" bIns="0" rIns="0">
            <a:spAutoFit/>
          </a:bodyPr>
          <a:lstStyle/>
          <a:p>
            <a:pPr algn="just">
              <a:lnSpc>
                <a:spcPts val="3219"/>
              </a:lnSpc>
              <a:spcBef>
                <a:spcPct val="0"/>
              </a:spcBef>
            </a:pPr>
            <a:r>
              <a:rPr lang="en-US" sz="2299" spc="-22">
                <a:solidFill>
                  <a:srgbClr val="2C3E50"/>
                </a:solidFill>
                <a:latin typeface="Arial MT Pro"/>
                <a:ea typeface="Arial MT Pro"/>
                <a:cs typeface="Arial MT Pro"/>
                <a:sym typeface="Arial MT Pro"/>
              </a:rPr>
              <a:t>An 8-model comparison was run on the hyperlink features (without percentages). Rand</a:t>
            </a:r>
            <a:r>
              <a:rPr lang="en-US" sz="2299" spc="-22">
                <a:solidFill>
                  <a:srgbClr val="2C3E50"/>
                </a:solidFill>
                <a:latin typeface="Arial MT Pro"/>
                <a:ea typeface="Arial MT Pro"/>
                <a:cs typeface="Arial MT Pro"/>
                <a:sym typeface="Arial MT Pro"/>
              </a:rPr>
              <a:t>om Forest was the clear winner with 91.2% accuracy and an F1-Score of 88.88%. Naive Bayes performed very poorly (57.5% accuracy), indicating the features are not conditionally independent. A separate deep learning model (a simple ANN) was trained on the features with percentages. This achieved 87.2% accuracy.</a:t>
            </a:r>
          </a:p>
        </p:txBody>
      </p:sp>
      <p:sp>
        <p:nvSpPr>
          <p:cNvPr name="TextBox 13" id="13"/>
          <p:cNvSpPr txBox="true"/>
          <p:nvPr/>
        </p:nvSpPr>
        <p:spPr>
          <a:xfrm rot="0">
            <a:off x="666750" y="6340529"/>
            <a:ext cx="6670203" cy="396239"/>
          </a:xfrm>
          <a:prstGeom prst="rect">
            <a:avLst/>
          </a:prstGeom>
        </p:spPr>
        <p:txBody>
          <a:bodyPr anchor="t" rtlCol="false" tIns="0" lIns="0" bIns="0" rIns="0">
            <a:spAutoFit/>
          </a:bodyPr>
          <a:lstStyle/>
          <a:p>
            <a:pPr algn="l">
              <a:lnSpc>
                <a:spcPts val="3360"/>
              </a:lnSpc>
            </a:pPr>
            <a:r>
              <a:rPr lang="en-US" sz="2400" b="true">
                <a:solidFill>
                  <a:srgbClr val="2C3E50"/>
                </a:solidFill>
                <a:latin typeface="Canva Sans Bold"/>
                <a:ea typeface="Canva Sans Bold"/>
                <a:cs typeface="Canva Sans Bold"/>
                <a:sym typeface="Canva Sans Bold"/>
              </a:rPr>
              <a:t>HTML Content-Based Models</a:t>
            </a:r>
          </a:p>
        </p:txBody>
      </p:sp>
      <p:sp>
        <p:nvSpPr>
          <p:cNvPr name="TextBox 14" id="14"/>
          <p:cNvSpPr txBox="true"/>
          <p:nvPr/>
        </p:nvSpPr>
        <p:spPr>
          <a:xfrm rot="0">
            <a:off x="666750" y="6691048"/>
            <a:ext cx="12006905" cy="2837181"/>
          </a:xfrm>
          <a:prstGeom prst="rect">
            <a:avLst/>
          </a:prstGeom>
        </p:spPr>
        <p:txBody>
          <a:bodyPr anchor="t" rtlCol="false" tIns="0" lIns="0" bIns="0" rIns="0">
            <a:spAutoFit/>
          </a:bodyPr>
          <a:lstStyle/>
          <a:p>
            <a:pPr algn="just">
              <a:lnSpc>
                <a:spcPts val="3219"/>
              </a:lnSpc>
            </a:pPr>
            <a:r>
              <a:rPr lang="en-US" sz="2299" spc="-22">
                <a:solidFill>
                  <a:srgbClr val="2C3E50"/>
                </a:solidFill>
                <a:latin typeface="Arial MT Pro"/>
                <a:ea typeface="Arial MT Pro"/>
                <a:cs typeface="Arial MT Pro"/>
                <a:sym typeface="Arial MT Pro"/>
              </a:rPr>
              <a:t>A comparison on the </a:t>
            </a:r>
            <a:r>
              <a:rPr lang="en-US" sz="2299" spc="-22">
                <a:solidFill>
                  <a:srgbClr val="2C3E50"/>
                </a:solidFill>
                <a:latin typeface="Arial MT Pro"/>
                <a:ea typeface="Arial MT Pro"/>
                <a:cs typeface="Arial MT Pro"/>
                <a:sym typeface="Arial MT Pro"/>
              </a:rPr>
              <a:t>110-feature concatenated vectors showed that Random Forest was the top performer with an accuracy of 93.7 % accuracy and an F1-Score of 91.7 %.</a:t>
            </a:r>
          </a:p>
          <a:p>
            <a:pPr algn="just">
              <a:lnSpc>
                <a:spcPts val="3219"/>
              </a:lnSpc>
              <a:spcBef>
                <a:spcPct val="0"/>
              </a:spcBef>
            </a:pPr>
            <a:r>
              <a:rPr lang="en-US" sz="2299" spc="-22">
                <a:solidFill>
                  <a:srgbClr val="2C3E50"/>
                </a:solidFill>
                <a:latin typeface="Arial MT Pro"/>
                <a:ea typeface="Arial MT Pro"/>
                <a:cs typeface="Arial MT Pro"/>
                <a:sym typeface="Arial MT Pro"/>
              </a:rPr>
              <a:t>Four “two-headed” RNNs were built (BiLSTM, LSTM, GRU, BiGRU) using keras. A shared Embedding layer (using the GloVe matrix) fed into two parallel RNNs, which were then concatenated and passed to a final classifier. All models performed well, BiGRU giving the highest accuracy of 97.8 %. Surprisingly, BiLSTM and LSTM performed exactly the same which implies that the task is dominated by local or forward dependencies</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15049500" y="0"/>
            <a:ext cx="3238500" cy="10287000"/>
            <a:chOff x="0" y="0"/>
            <a:chExt cx="852938" cy="2709333"/>
          </a:xfrm>
        </p:grpSpPr>
        <p:sp>
          <p:nvSpPr>
            <p:cNvPr name="Freeform 3" id="3"/>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18BC9C"/>
            </a:solidFill>
          </p:spPr>
        </p:sp>
        <p:sp>
          <p:nvSpPr>
            <p:cNvPr name="TextBox 4" id="4"/>
            <p:cNvSpPr txBox="true"/>
            <p:nvPr/>
          </p:nvSpPr>
          <p:spPr>
            <a:xfrm>
              <a:off x="0" y="-76200"/>
              <a:ext cx="852938" cy="2785533"/>
            </a:xfrm>
            <a:prstGeom prst="rect">
              <a:avLst/>
            </a:prstGeom>
          </p:spPr>
          <p:txBody>
            <a:bodyPr anchor="ctr" rtlCol="false" tIns="50800" lIns="50800" bIns="50800" rIns="50800"/>
            <a:lstStyle/>
            <a:p>
              <a:pPr algn="ctr" marL="0" indent="0" lvl="0">
                <a:lnSpc>
                  <a:spcPts val="2800"/>
                </a:lnSpc>
              </a:pPr>
            </a:p>
          </p:txBody>
        </p:sp>
      </p:grpSp>
      <p:sp>
        <p:nvSpPr>
          <p:cNvPr name="AutoShape 5" id="5"/>
          <p:cNvSpPr/>
          <p:nvPr/>
        </p:nvSpPr>
        <p:spPr>
          <a:xfrm>
            <a:off x="666750" y="9620250"/>
            <a:ext cx="12006905" cy="0"/>
          </a:xfrm>
          <a:prstGeom prst="line">
            <a:avLst/>
          </a:prstGeom>
          <a:ln cap="flat" w="9525">
            <a:solidFill>
              <a:srgbClr val="2C3E50"/>
            </a:solidFill>
            <a:prstDash val="solid"/>
            <a:headEnd type="none" len="sm" w="sm"/>
            <a:tailEnd type="none" len="sm" w="sm"/>
          </a:ln>
        </p:spPr>
      </p:sp>
      <p:grpSp>
        <p:nvGrpSpPr>
          <p:cNvPr name="Group 6" id="6"/>
          <p:cNvGrpSpPr/>
          <p:nvPr/>
        </p:nvGrpSpPr>
        <p:grpSpPr>
          <a:xfrm rot="0">
            <a:off x="666750" y="693399"/>
            <a:ext cx="12639675" cy="1764030"/>
            <a:chOff x="0" y="0"/>
            <a:chExt cx="16852900" cy="2352040"/>
          </a:xfrm>
        </p:grpSpPr>
        <p:sp>
          <p:nvSpPr>
            <p:cNvPr name="TextBox 7" id="7"/>
            <p:cNvSpPr txBox="true"/>
            <p:nvPr/>
          </p:nvSpPr>
          <p:spPr>
            <a:xfrm rot="0">
              <a:off x="0" y="-19050"/>
              <a:ext cx="16852900" cy="1432984"/>
            </a:xfrm>
            <a:prstGeom prst="rect">
              <a:avLst/>
            </a:prstGeom>
          </p:spPr>
          <p:txBody>
            <a:bodyPr anchor="t" rtlCol="false" tIns="0" lIns="0" bIns="0" rIns="0">
              <a:spAutoFit/>
            </a:bodyPr>
            <a:lstStyle/>
            <a:p>
              <a:pPr algn="l" marL="0" indent="0" lvl="0">
                <a:lnSpc>
                  <a:spcPts val="7700"/>
                </a:lnSpc>
              </a:pPr>
              <a:r>
                <a:rPr lang="en-US" b="true" sz="7000" spc="-70">
                  <a:solidFill>
                    <a:srgbClr val="2C3E50"/>
                  </a:solidFill>
                  <a:latin typeface="Telegraf Bold"/>
                  <a:ea typeface="Telegraf Bold"/>
                  <a:cs typeface="Telegraf Bold"/>
                  <a:sym typeface="Telegraf Bold"/>
                </a:rPr>
                <a:t>Conclusion</a:t>
              </a:r>
            </a:p>
          </p:txBody>
        </p:sp>
        <p:sp>
          <p:nvSpPr>
            <p:cNvPr name="TextBox 8" id="8"/>
            <p:cNvSpPr txBox="true"/>
            <p:nvPr/>
          </p:nvSpPr>
          <p:spPr>
            <a:xfrm rot="0">
              <a:off x="0" y="1769534"/>
              <a:ext cx="16852900" cy="582507"/>
            </a:xfrm>
            <a:prstGeom prst="rect">
              <a:avLst/>
            </a:prstGeom>
          </p:spPr>
          <p:txBody>
            <a:bodyPr anchor="t" rtlCol="false" tIns="0" lIns="0" bIns="0" rIns="0">
              <a:spAutoFit/>
            </a:bodyPr>
            <a:lstStyle/>
            <a:p>
              <a:pPr algn="l" marL="0" indent="0" lvl="0">
                <a:lnSpc>
                  <a:spcPts val="3190"/>
                </a:lnSpc>
              </a:pPr>
              <a:r>
                <a:rPr lang="en-US" b="true" sz="2900" spc="-29">
                  <a:solidFill>
                    <a:srgbClr val="2C3E50"/>
                  </a:solidFill>
                  <a:latin typeface="Telegraf Bold"/>
                  <a:ea typeface="Telegraf Bold"/>
                  <a:cs typeface="Telegraf Bold"/>
                  <a:sym typeface="Telegraf Bold"/>
                </a:rPr>
                <a:t>Our approach’s impact on phishing detection.</a:t>
              </a:r>
            </a:p>
          </p:txBody>
        </p:sp>
      </p:grpSp>
      <p:sp>
        <p:nvSpPr>
          <p:cNvPr name="TextBox 9" id="9"/>
          <p:cNvSpPr txBox="true"/>
          <p:nvPr/>
        </p:nvSpPr>
        <p:spPr>
          <a:xfrm rot="0">
            <a:off x="666750" y="2594020"/>
            <a:ext cx="12006905" cy="4837431"/>
          </a:xfrm>
          <a:prstGeom prst="rect">
            <a:avLst/>
          </a:prstGeom>
        </p:spPr>
        <p:txBody>
          <a:bodyPr anchor="t" rtlCol="false" tIns="0" lIns="0" bIns="0" rIns="0">
            <a:spAutoFit/>
          </a:bodyPr>
          <a:lstStyle/>
          <a:p>
            <a:pPr algn="just">
              <a:lnSpc>
                <a:spcPts val="3219"/>
              </a:lnSpc>
            </a:pPr>
            <a:r>
              <a:rPr lang="en-US" sz="2299" spc="-22">
                <a:solidFill>
                  <a:srgbClr val="2C3E50"/>
                </a:solidFill>
                <a:latin typeface="Arial MT Pro"/>
                <a:ea typeface="Arial MT Pro"/>
                <a:cs typeface="Arial MT Pro"/>
                <a:sym typeface="Arial MT Pro"/>
              </a:rPr>
              <a:t>This project successfully designed, implemented, and evaluated several high-performance models for phishing detection. We demonstrated that by using modern NLP and machine learning techniques, it is possible to proactively detect phishing sites with high accuracy, surpassing the limitations of traditional blacklist-based systems.</a:t>
            </a:r>
          </a:p>
          <a:p>
            <a:pPr algn="just">
              <a:lnSpc>
                <a:spcPts val="3219"/>
              </a:lnSpc>
            </a:pPr>
          </a:p>
          <a:p>
            <a:pPr algn="just">
              <a:lnSpc>
                <a:spcPts val="3219"/>
              </a:lnSpc>
              <a:spcBef>
                <a:spcPct val="0"/>
              </a:spcBef>
            </a:pPr>
            <a:r>
              <a:rPr lang="en-US" sz="2299" spc="-22">
                <a:solidFill>
                  <a:srgbClr val="2C3E50"/>
                </a:solidFill>
                <a:latin typeface="Arial MT Pro"/>
                <a:ea typeface="Arial MT Pro"/>
                <a:cs typeface="Arial MT Pro"/>
                <a:sym typeface="Arial MT Pro"/>
              </a:rPr>
              <a:t>A key finding of this report is the remarkable standalone performance of deep learning models. The Content-Based BiGRU (97.8%) and the URL-Based CNN (95%) both performed at a level comparable to, or even exceeding, the final hybr</a:t>
            </a:r>
            <a:r>
              <a:rPr lang="en-US" sz="2299" spc="-22">
                <a:solidFill>
                  <a:srgbClr val="2C3E50"/>
                </a:solidFill>
                <a:latin typeface="Arial MT Pro"/>
                <a:ea typeface="Arial MT Pro"/>
                <a:cs typeface="Arial MT Pro"/>
                <a:sym typeface="Arial MT Pro"/>
              </a:rPr>
              <a:t>id model (96.32%). The most significant insight from our work is the apparent feature redundancy. The standalone performance of the BiGRU and CNN models suggests that these deep learning architectures are implicitly learning the same complex patterns that we sought to capture manually with heuristic and structural features.</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15049500" y="0"/>
            <a:ext cx="3238500" cy="10287000"/>
            <a:chOff x="0" y="0"/>
            <a:chExt cx="852938" cy="2709333"/>
          </a:xfrm>
        </p:grpSpPr>
        <p:sp>
          <p:nvSpPr>
            <p:cNvPr name="Freeform 3" id="3"/>
            <p:cNvSpPr/>
            <p:nvPr/>
          </p:nvSpPr>
          <p:spPr>
            <a:xfrm flipH="false" flipV="false" rot="0">
              <a:off x="0" y="0"/>
              <a:ext cx="852938" cy="2709333"/>
            </a:xfrm>
            <a:custGeom>
              <a:avLst/>
              <a:gdLst/>
              <a:ahLst/>
              <a:cxnLst/>
              <a:rect r="r" b="b" t="t" l="l"/>
              <a:pathLst>
                <a:path h="2709333" w="852938">
                  <a:moveTo>
                    <a:pt x="0" y="0"/>
                  </a:moveTo>
                  <a:lnTo>
                    <a:pt x="852938" y="0"/>
                  </a:lnTo>
                  <a:lnTo>
                    <a:pt x="852938" y="2709333"/>
                  </a:lnTo>
                  <a:lnTo>
                    <a:pt x="0" y="2709333"/>
                  </a:lnTo>
                  <a:close/>
                </a:path>
              </a:pathLst>
            </a:custGeom>
            <a:solidFill>
              <a:srgbClr val="18BC9C"/>
            </a:solidFill>
          </p:spPr>
        </p:sp>
        <p:sp>
          <p:nvSpPr>
            <p:cNvPr name="TextBox 4" id="4"/>
            <p:cNvSpPr txBox="true"/>
            <p:nvPr/>
          </p:nvSpPr>
          <p:spPr>
            <a:xfrm>
              <a:off x="0" y="-76200"/>
              <a:ext cx="852938" cy="2785533"/>
            </a:xfrm>
            <a:prstGeom prst="rect">
              <a:avLst/>
            </a:prstGeom>
          </p:spPr>
          <p:txBody>
            <a:bodyPr anchor="ctr" rtlCol="false" tIns="50800" lIns="50800" bIns="50800" rIns="50800"/>
            <a:lstStyle/>
            <a:p>
              <a:pPr algn="ctr" marL="0" indent="0" lvl="0">
                <a:lnSpc>
                  <a:spcPts val="2800"/>
                </a:lnSpc>
              </a:pPr>
            </a:p>
          </p:txBody>
        </p:sp>
      </p:grpSp>
      <p:sp>
        <p:nvSpPr>
          <p:cNvPr name="AutoShape 5" id="5"/>
          <p:cNvSpPr/>
          <p:nvPr/>
        </p:nvSpPr>
        <p:spPr>
          <a:xfrm>
            <a:off x="666750" y="9620250"/>
            <a:ext cx="12006905" cy="0"/>
          </a:xfrm>
          <a:prstGeom prst="line">
            <a:avLst/>
          </a:prstGeom>
          <a:ln cap="flat" w="9525">
            <a:solidFill>
              <a:srgbClr val="2C3E50"/>
            </a:solidFill>
            <a:prstDash val="solid"/>
            <a:headEnd type="none" len="sm" w="sm"/>
            <a:tailEnd type="none" len="sm" w="sm"/>
          </a:ln>
        </p:spPr>
      </p:sp>
      <p:sp>
        <p:nvSpPr>
          <p:cNvPr name="TextBox 6" id="6"/>
          <p:cNvSpPr txBox="true"/>
          <p:nvPr/>
        </p:nvSpPr>
        <p:spPr>
          <a:xfrm rot="0">
            <a:off x="666750" y="674349"/>
            <a:ext cx="12639675" cy="1079500"/>
          </a:xfrm>
          <a:prstGeom prst="rect">
            <a:avLst/>
          </a:prstGeom>
        </p:spPr>
        <p:txBody>
          <a:bodyPr anchor="t" rtlCol="false" tIns="0" lIns="0" bIns="0" rIns="0">
            <a:spAutoFit/>
          </a:bodyPr>
          <a:lstStyle/>
          <a:p>
            <a:pPr algn="l" marL="0" indent="0" lvl="0">
              <a:lnSpc>
                <a:spcPts val="7700"/>
              </a:lnSpc>
            </a:pPr>
            <a:r>
              <a:rPr lang="en-US" b="true" sz="7000" spc="-70">
                <a:solidFill>
                  <a:srgbClr val="2C3E50"/>
                </a:solidFill>
                <a:latin typeface="Telegraf Bold"/>
                <a:ea typeface="Telegraf Bold"/>
                <a:cs typeface="Telegraf Bold"/>
                <a:sym typeface="Telegraf Bold"/>
              </a:rPr>
              <a:t>References</a:t>
            </a:r>
          </a:p>
        </p:txBody>
      </p:sp>
      <p:sp>
        <p:nvSpPr>
          <p:cNvPr name="TextBox 7" id="7"/>
          <p:cNvSpPr txBox="true"/>
          <p:nvPr/>
        </p:nvSpPr>
        <p:spPr>
          <a:xfrm rot="0">
            <a:off x="666750" y="1658600"/>
            <a:ext cx="12006905" cy="6437631"/>
          </a:xfrm>
          <a:prstGeom prst="rect">
            <a:avLst/>
          </a:prstGeom>
        </p:spPr>
        <p:txBody>
          <a:bodyPr anchor="t" rtlCol="false" tIns="0" lIns="0" bIns="0" rIns="0">
            <a:spAutoFit/>
          </a:bodyPr>
          <a:lstStyle/>
          <a:p>
            <a:pPr algn="just" marL="496564" indent="-248282" lvl="1">
              <a:lnSpc>
                <a:spcPts val="3219"/>
              </a:lnSpc>
              <a:buAutoNum type="arabicPeriod" startAt="1"/>
            </a:pPr>
            <a:r>
              <a:rPr lang="en-US" sz="2299" spc="-22">
                <a:solidFill>
                  <a:srgbClr val="2C3E50"/>
                </a:solidFill>
                <a:latin typeface="Arial MT Pro"/>
                <a:ea typeface="Arial MT Pro"/>
                <a:cs typeface="Arial MT Pro"/>
                <a:sym typeface="Arial MT Pro"/>
              </a:rPr>
              <a:t>A. Aleroud and L. Zhou, “Phishing environments, techniques, and countermeasures: A survey,” Computers amp; Security, vol. 68, p. 160–196, Jul. 2017. [Online]. Available: http://dx.doi.org/10.1016/j.cose.2017.04.006</a:t>
            </a:r>
          </a:p>
          <a:p>
            <a:pPr algn="just" marL="496564" indent="-248282" lvl="1">
              <a:lnSpc>
                <a:spcPts val="3219"/>
              </a:lnSpc>
              <a:buAutoNum type="arabicPeriod" startAt="1"/>
            </a:pPr>
            <a:r>
              <a:rPr lang="en-US" sz="2299" spc="-22">
                <a:solidFill>
                  <a:srgbClr val="2C3E50"/>
                </a:solidFill>
                <a:latin typeface="Arial MT Pro"/>
                <a:ea typeface="Arial MT Pro"/>
                <a:cs typeface="Arial MT Pro"/>
                <a:sym typeface="Arial MT Pro"/>
              </a:rPr>
              <a:t>D. Kalla and S. Kuraku, “Phishing website url’s detection using nlp and machine learning techniques,” Journal on Artificial Intelligence, vol. 5, no. 0, p. 145–162, 2023. [Online]. Available: http://dx.doi.org/10.32604/jai.2023.043366 </a:t>
            </a:r>
          </a:p>
          <a:p>
            <a:pPr algn="just" marL="496564" indent="-248282" lvl="1">
              <a:lnSpc>
                <a:spcPts val="3219"/>
              </a:lnSpc>
              <a:buAutoNum type="arabicPeriod" startAt="1"/>
            </a:pPr>
            <a:r>
              <a:rPr lang="en-US" sz="2299" spc="-22">
                <a:solidFill>
                  <a:srgbClr val="2C3E50"/>
                </a:solidFill>
                <a:latin typeface="Arial MT Pro"/>
                <a:ea typeface="Arial MT Pro"/>
                <a:cs typeface="Arial MT Pro"/>
                <a:sym typeface="Arial MT Pro"/>
              </a:rPr>
              <a:t>R. S. Rao, A. Umarekar, and A. R. Pais, “Application of word embedding and machine learning in detecting phishing websites,” Telecommunication Systems, vol. 79, no. 1, p. 33–45, Nov. 2021. [Online]. Available: http://dx.doi.org/10.1007/s11235-021-00850-6</a:t>
            </a:r>
          </a:p>
          <a:p>
            <a:pPr algn="just" marL="496564" indent="-248282" lvl="1">
              <a:lnSpc>
                <a:spcPts val="3219"/>
              </a:lnSpc>
              <a:buAutoNum type="arabicPeriod" startAt="1"/>
            </a:pPr>
            <a:r>
              <a:rPr lang="en-US" sz="2299" spc="-22">
                <a:solidFill>
                  <a:srgbClr val="2C3E50"/>
                </a:solidFill>
                <a:latin typeface="Arial MT Pro"/>
                <a:ea typeface="Arial MT Pro"/>
                <a:cs typeface="Arial MT Pro"/>
                <a:sym typeface="Arial MT Pro"/>
              </a:rPr>
              <a:t>A. Aljofey, Q. Jiang, A. Rasool, H. Chen, W. Liu, Q. Qu, and Y. Wang, “An effective detection approach for phishing websites using url and html features,” Scientific Reports, vol. 12, no. 1, May 2022. [Online]. Available: http://dx.doi.org/10.1038/s41598-022-10841-5</a:t>
            </a:r>
          </a:p>
          <a:p>
            <a:pPr algn="just" marL="496564" indent="-248282" lvl="1">
              <a:lnSpc>
                <a:spcPts val="3219"/>
              </a:lnSpc>
              <a:spcBef>
                <a:spcPct val="0"/>
              </a:spcBef>
              <a:buAutoNum type="arabicPeriod" startAt="1"/>
            </a:pPr>
            <a:r>
              <a:rPr lang="en-US" sz="2299" spc="-22">
                <a:solidFill>
                  <a:srgbClr val="2C3E50"/>
                </a:solidFill>
                <a:latin typeface="Arial MT Pro"/>
                <a:ea typeface="Arial MT Pro"/>
                <a:cs typeface="Arial MT Pro"/>
                <a:sym typeface="Arial MT Pro"/>
              </a:rPr>
              <a:t>. K. Jain and B. B. Gupta, “A machine learning based approach for phishing detection using hyperlinks information,” Journal of Ambient Intelligence and Humanized Computing, vol. 10, no. 5, p. 2015–2028, Apr. 2018. [Online]. Available: http://dx.doi.org/10.1007/s12652-018-0798-z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DAG4HbeCA4E</dc:identifier>
  <dcterms:modified xsi:type="dcterms:W3CDTF">2011-08-01T06:04:30Z</dcterms:modified>
  <cp:revision>1</cp:revision>
  <dc:title>CS3103 ppt</dc:title>
</cp:coreProperties>
</file>